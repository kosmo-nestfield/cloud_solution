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  <p:sldMasterId id="2147483663" r:id="rId3"/>
  </p:sldMasterIdLst>
  <p:notesMasterIdLst>
    <p:notesMasterId r:id="rId16"/>
  </p:notesMasterIdLst>
  <p:sldIdLst>
    <p:sldId id="257" r:id="rId4"/>
    <p:sldId id="267" r:id="rId5"/>
    <p:sldId id="268" r:id="rId6"/>
    <p:sldId id="269" r:id="rId7"/>
    <p:sldId id="263" r:id="rId8"/>
    <p:sldId id="270" r:id="rId9"/>
    <p:sldId id="271" r:id="rId10"/>
    <p:sldId id="289" r:id="rId11"/>
    <p:sldId id="272" r:id="rId12"/>
    <p:sldId id="273" r:id="rId13"/>
    <p:sldId id="290" r:id="rId14"/>
    <p:sldId id="291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72" y="9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2789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38A9EA-088C-4CF1-828C-ACBB6C8C8E90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AD259F-A1E4-49D3-A6AC-01AE62E8D7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744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x-none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C7A677F-5F1A-4680-B9FF-F491EB615AB8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1642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9054A6C-E7D9-49E0-BC4A-FBDF54CD4979}" type="datetime1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8F60D-69FA-4829-9B17-F15351F932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0940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060CEC8-4D2D-474F-854C-7E04452AEFD2}" type="datetime1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8F60D-69FA-4829-9B17-F15351F932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6804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775D7E8-8910-49E4-947F-099ECA0DECD1}" type="datetime1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8F60D-69FA-4829-9B17-F15351F932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8458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4EC382-02BA-4066-92B4-053E51E6FD61}" type="datetime1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8F60D-69FA-4829-9B17-F15351F932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5492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ED67CC1-F438-4D02-B254-00D2ABD561CA}" type="datetime1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8F60D-69FA-4829-9B17-F15351F932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7915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043D150-2112-44FE-8FA2-4999BE331D63}" type="datetime1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8F60D-69FA-4829-9B17-F15351F932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5012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8F60D-69FA-4829-9B17-F15351F932E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제목 개체 틀 1"/>
          <p:cNvSpPr>
            <a:spLocks noGrp="1"/>
          </p:cNvSpPr>
          <p:nvPr>
            <p:ph type="title"/>
          </p:nvPr>
        </p:nvSpPr>
        <p:spPr>
          <a:xfrm>
            <a:off x="431800" y="101601"/>
            <a:ext cx="93091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03877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FB2D36-9D13-4DFC-835E-142499CDF5A0}" type="datetime1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8F60D-69FA-4829-9B17-F15351F932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236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3DC858F-A480-41B5-BD49-946F772C9F99}" type="datetime1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8F60D-69FA-4829-9B17-F15351F932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29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9FF9D2-24F5-465F-94A1-FF13EFB169A3}" type="datetime1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8F60D-69FA-4829-9B17-F15351F932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9045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73BFC7-12DC-4123-A410-07C97345890E}" type="datetime1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8F60D-69FA-4829-9B17-F15351F932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08869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31504" y="1916832"/>
            <a:ext cx="8928992" cy="528053"/>
          </a:xfrm>
          <a:prstGeom prst="rect">
            <a:avLst/>
          </a:prstGeom>
        </p:spPr>
        <p:txBody>
          <a:bodyPr/>
          <a:lstStyle>
            <a:lvl1pPr algn="ctr">
              <a:defRPr sz="3200" b="1">
                <a:solidFill>
                  <a:srgbClr val="0678A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4528593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개체 틀 17"/>
          <p:cNvSpPr>
            <a:spLocks noGrp="1"/>
          </p:cNvSpPr>
          <p:nvPr>
            <p:ph type="title"/>
          </p:nvPr>
        </p:nvSpPr>
        <p:spPr>
          <a:xfrm>
            <a:off x="1007435" y="260648"/>
            <a:ext cx="10273141" cy="346050"/>
          </a:xfrm>
          <a:prstGeom prst="rect">
            <a:avLst/>
          </a:prstGeom>
          <a:noFill/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vert="horz" lIns="91440" tIns="45720" rIns="91440" bIns="45720" rtlCol="0" anchor="ctr">
            <a:noAutofit/>
          </a:bodyPr>
          <a:lstStyle>
            <a:lvl1pPr>
              <a:defRPr sz="2400" b="1">
                <a:solidFill>
                  <a:srgbClr val="0678A6"/>
                </a:solidFill>
                <a:effectLst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1021423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988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4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D4F9D833-6DCE-6948-91A4-4217FC60E393}"/>
              </a:ext>
            </a:extLst>
          </p:cNvPr>
          <p:cNvSpPr/>
          <p:nvPr userDrawn="1"/>
        </p:nvSpPr>
        <p:spPr>
          <a:xfrm>
            <a:off x="0" y="0"/>
            <a:ext cx="12192000" cy="863600"/>
          </a:xfrm>
          <a:prstGeom prst="rect">
            <a:avLst/>
          </a:prstGeom>
          <a:solidFill>
            <a:srgbClr val="0753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>
              <a:solidFill>
                <a:prstClr val="white"/>
              </a:solidFill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31800" y="101601"/>
            <a:ext cx="93091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31800" y="1143000"/>
            <a:ext cx="11518900" cy="557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1703920" y="97025"/>
            <a:ext cx="4239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fld id="{F788F60D-69FA-4829-9B17-F15351F932E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4F9D833-6DCE-6948-91A4-4217FC60E393}"/>
              </a:ext>
            </a:extLst>
          </p:cNvPr>
          <p:cNvSpPr/>
          <p:nvPr userDrawn="1"/>
        </p:nvSpPr>
        <p:spPr>
          <a:xfrm>
            <a:off x="0" y="6791324"/>
            <a:ext cx="12192000" cy="66675"/>
          </a:xfrm>
          <a:prstGeom prst="rect">
            <a:avLst/>
          </a:prstGeom>
          <a:solidFill>
            <a:srgbClr val="0753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>
              <a:solidFill>
                <a:prstClr val="white"/>
              </a:solidFill>
            </a:endParaRPr>
          </a:p>
        </p:txBody>
      </p:sp>
      <p:pic>
        <p:nvPicPr>
          <p:cNvPr id="4" name="그림 3" descr="폰트, 그래픽, 텍스트, 스크린샷이(가) 표시된 사진&#10;&#10;자동 생성된 설명">
            <a:extLst>
              <a:ext uri="{FF2B5EF4-FFF2-40B4-BE49-F238E27FC236}">
                <a16:creationId xmlns:a16="http://schemas.microsoft.com/office/drawing/2014/main" id="{74FCD91C-5C69-AF77-4B7E-480414E770D7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8187" y="73517"/>
            <a:ext cx="1888446" cy="818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554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accent1">
              <a:lumMod val="20000"/>
              <a:lumOff val="8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ts val="28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ts val="28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ts val="28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ts val="28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ts val="28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모서리가 둥근 직사각형 14"/>
          <p:cNvSpPr/>
          <p:nvPr userDrawn="1"/>
        </p:nvSpPr>
        <p:spPr>
          <a:xfrm>
            <a:off x="0" y="3573016"/>
            <a:ext cx="12192000" cy="3284984"/>
          </a:xfrm>
          <a:prstGeom prst="roundRect">
            <a:avLst>
              <a:gd name="adj" fmla="val 0"/>
            </a:avLst>
          </a:prstGeom>
          <a:gradFill flip="none" rotWithShape="1">
            <a:gsLst>
              <a:gs pos="27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  <a:effectLst>
            <a:innerShdw blurRad="25400" dist="12700" dir="16200000">
              <a:schemeClr val="tx1">
                <a:lumMod val="75000"/>
                <a:lumOff val="25000"/>
                <a:alpha val="3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4F9D833-6DCE-6948-91A4-4217FC60E393}"/>
              </a:ext>
            </a:extLst>
          </p:cNvPr>
          <p:cNvSpPr/>
          <p:nvPr userDrawn="1"/>
        </p:nvSpPr>
        <p:spPr>
          <a:xfrm>
            <a:off x="0" y="0"/>
            <a:ext cx="12192000" cy="3573016"/>
          </a:xfrm>
          <a:prstGeom prst="rect">
            <a:avLst/>
          </a:prstGeom>
          <a:solidFill>
            <a:srgbClr val="0753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9520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1" descr="page1image31406928">
            <a:extLst>
              <a:ext uri="{FF2B5EF4-FFF2-40B4-BE49-F238E27FC236}">
                <a16:creationId xmlns:a16="http://schemas.microsoft.com/office/drawing/2014/main" id="{5D80D34B-C0D0-3741-86B9-EAE4C1E412E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704400" y="796221"/>
            <a:ext cx="8485384" cy="3498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 descr="중지, 방이(가) 표시된 사진&#10;&#10;자동 생성된 설명">
            <a:extLst>
              <a:ext uri="{FF2B5EF4-FFF2-40B4-BE49-F238E27FC236}">
                <a16:creationId xmlns:a16="http://schemas.microsoft.com/office/drawing/2014/main" id="{A2CDF5D7-1DEC-4390-99A5-6A81838454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-295" r="-295"/>
          <a:stretch/>
        </p:blipFill>
        <p:spPr>
          <a:xfrm>
            <a:off x="-10159" y="796220"/>
            <a:ext cx="3729895" cy="349874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33C97F92-467A-5F45-BB61-9413AC3F684D}"/>
              </a:ext>
            </a:extLst>
          </p:cNvPr>
          <p:cNvSpPr txBox="1"/>
          <p:nvPr userDrawn="1"/>
        </p:nvSpPr>
        <p:spPr>
          <a:xfrm>
            <a:off x="9269202" y="2780928"/>
            <a:ext cx="2807179" cy="1569660"/>
          </a:xfrm>
          <a:prstGeom prst="rect">
            <a:avLst/>
          </a:prstGeom>
          <a:noFill/>
          <a:scene3d>
            <a:camera prst="orthographicFront">
              <a:rot lat="3000000" lon="0" rev="0"/>
            </a:camera>
            <a:lightRig rig="threePt" dir="t"/>
          </a:scene3d>
        </p:spPr>
        <p:txBody>
          <a:bodyPr wrap="none" rtlCol="0">
            <a:spAutoFit/>
            <a:scene3d>
              <a:camera prst="orthographicFront">
                <a:rot lat="2400000" lon="0" rev="0"/>
              </a:camera>
              <a:lightRig rig="threePt" dir="t"/>
            </a:scene3d>
          </a:bodyPr>
          <a:lstStyle/>
          <a:p>
            <a:pPr algn="r"/>
            <a:r>
              <a:rPr kumimoji="1" lang="en-US" altLang="x-none" sz="3200" b="1" spc="-150" dirty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02060">
                    <a:alpha val="4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Asset</a:t>
            </a:r>
          </a:p>
          <a:p>
            <a:pPr algn="r"/>
            <a:r>
              <a:rPr kumimoji="1" lang="en-US" altLang="x-none" sz="3200" b="1" spc="-150" dirty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02060">
                    <a:alpha val="4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Administration</a:t>
            </a:r>
          </a:p>
          <a:p>
            <a:pPr algn="r"/>
            <a:r>
              <a:rPr kumimoji="1" lang="en-US" altLang="x-none" sz="3200" b="1" spc="-150" dirty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02060">
                    <a:alpha val="4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Shell</a:t>
            </a:r>
            <a:endParaRPr kumimoji="1" lang="x-none" altLang="en-US" sz="3200" b="1" spc="-150" dirty="0">
              <a:ln w="3175">
                <a:solidFill>
                  <a:prstClr val="white">
                    <a:alpha val="0"/>
                  </a:prstClr>
                </a:solidFill>
              </a:ln>
              <a:solidFill>
                <a:srgbClr val="002060">
                  <a:alpha val="4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01ABB2F-15EF-0444-BF1B-2EBA81B45E3C}"/>
              </a:ext>
            </a:extLst>
          </p:cNvPr>
          <p:cNvSpPr txBox="1"/>
          <p:nvPr userDrawn="1"/>
        </p:nvSpPr>
        <p:spPr>
          <a:xfrm>
            <a:off x="9215724" y="911622"/>
            <a:ext cx="2850459" cy="1077218"/>
          </a:xfrm>
          <a:prstGeom prst="rect">
            <a:avLst/>
          </a:prstGeom>
          <a:noFill/>
          <a:scene3d>
            <a:camera prst="orthographicFront">
              <a:rot lat="3000000" lon="0" rev="0"/>
            </a:camera>
            <a:lightRig rig="threePt" dir="t"/>
          </a:scene3d>
        </p:spPr>
        <p:txBody>
          <a:bodyPr wrap="none" rtlCol="0">
            <a:spAutoFit/>
            <a:scene3d>
              <a:camera prst="orthographicFront">
                <a:rot lat="2400000" lon="0" rev="0"/>
              </a:camera>
              <a:lightRig rig="threePt" dir="t"/>
            </a:scene3d>
          </a:bodyPr>
          <a:lstStyle/>
          <a:p>
            <a:pPr algn="r"/>
            <a:r>
              <a:rPr kumimoji="1" lang="en-US" altLang="x-none" sz="3200" b="1" spc="-150" dirty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02060">
                    <a:alpha val="4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Smart</a:t>
            </a:r>
          </a:p>
          <a:p>
            <a:pPr algn="r"/>
            <a:r>
              <a:rPr kumimoji="1" lang="en-US" altLang="x-none" sz="3200" b="1" spc="-150" dirty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02060">
                    <a:alpha val="4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Manufacturing</a:t>
            </a:r>
            <a:endParaRPr kumimoji="1" lang="x-none" altLang="en-US" sz="3200" b="1" spc="-150" dirty="0">
              <a:ln w="3175">
                <a:solidFill>
                  <a:prstClr val="white">
                    <a:alpha val="0"/>
                  </a:prstClr>
                </a:solidFill>
              </a:ln>
              <a:solidFill>
                <a:srgbClr val="002060">
                  <a:alpha val="4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E575B98-C9B7-DB47-9D48-8924B867C66B}"/>
              </a:ext>
            </a:extLst>
          </p:cNvPr>
          <p:cNvSpPr txBox="1"/>
          <p:nvPr userDrawn="1"/>
        </p:nvSpPr>
        <p:spPr>
          <a:xfrm>
            <a:off x="10764225" y="1919734"/>
            <a:ext cx="1301958" cy="1077218"/>
          </a:xfrm>
          <a:prstGeom prst="rect">
            <a:avLst/>
          </a:prstGeom>
          <a:noFill/>
          <a:scene3d>
            <a:camera prst="orthographicFront">
              <a:rot lat="3000000" lon="0" rev="0"/>
            </a:camera>
            <a:lightRig rig="threePt" dir="t"/>
          </a:scene3d>
        </p:spPr>
        <p:txBody>
          <a:bodyPr wrap="none" rtlCol="0">
            <a:spAutoFit/>
            <a:scene3d>
              <a:camera prst="orthographicFront">
                <a:rot lat="2400000" lon="0" rev="0"/>
              </a:camera>
              <a:lightRig rig="threePt" dir="t"/>
            </a:scene3d>
          </a:bodyPr>
          <a:lstStyle/>
          <a:p>
            <a:pPr algn="r"/>
            <a:r>
              <a:rPr kumimoji="1" lang="en-US" altLang="x-none" sz="3200" b="1" spc="-150" dirty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02060">
                    <a:alpha val="4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Digital</a:t>
            </a:r>
          </a:p>
          <a:p>
            <a:pPr algn="r"/>
            <a:r>
              <a:rPr kumimoji="1" lang="en-US" altLang="x-none" sz="3200" b="1" spc="-150" dirty="0">
                <a:ln w="3175">
                  <a:solidFill>
                    <a:prstClr val="white">
                      <a:alpha val="0"/>
                    </a:prstClr>
                  </a:solidFill>
                </a:ln>
                <a:solidFill>
                  <a:srgbClr val="002060">
                    <a:alpha val="4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Twin</a:t>
            </a:r>
            <a:endParaRPr kumimoji="1" lang="x-none" altLang="en-US" sz="3200" b="1" spc="-150" dirty="0">
              <a:ln w="3175">
                <a:solidFill>
                  <a:prstClr val="white">
                    <a:alpha val="0"/>
                  </a:prstClr>
                </a:solidFill>
              </a:ln>
              <a:solidFill>
                <a:srgbClr val="002060">
                  <a:alpha val="4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44A7D4D-7646-A143-BAF5-0ACBC0D53977}"/>
              </a:ext>
            </a:extLst>
          </p:cNvPr>
          <p:cNvSpPr/>
          <p:nvPr userDrawn="1"/>
        </p:nvSpPr>
        <p:spPr>
          <a:xfrm>
            <a:off x="3287688" y="796220"/>
            <a:ext cx="3168352" cy="3498744"/>
          </a:xfrm>
          <a:prstGeom prst="rect">
            <a:avLst/>
          </a:prstGeom>
          <a:gradFill flip="none" rotWithShape="1">
            <a:gsLst>
              <a:gs pos="12000">
                <a:srgbClr val="50749F"/>
              </a:gs>
              <a:gs pos="0">
                <a:srgbClr val="50749F">
                  <a:alpha val="0"/>
                </a:srgbClr>
              </a:gs>
              <a:gs pos="100000">
                <a:srgbClr val="50749F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x-none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0396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폰트, 그래픽, 텍스트, 스크린샷이(가) 표시된 사진&#10;&#10;자동 생성된 설명">
            <a:extLst>
              <a:ext uri="{FF2B5EF4-FFF2-40B4-BE49-F238E27FC236}">
                <a16:creationId xmlns:a16="http://schemas.microsoft.com/office/drawing/2014/main" id="{0FDBDBC4-AFE9-FAEF-6013-7AB548F48B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1975" y="4501113"/>
            <a:ext cx="3088047" cy="1337894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67408" y="692696"/>
            <a:ext cx="10657184" cy="2664296"/>
          </a:xfrm>
          <a:effectLst/>
        </p:spPr>
        <p:txBody>
          <a:bodyPr/>
          <a:lstStyle/>
          <a:p>
            <a:pPr algn="ctr">
              <a:lnSpc>
                <a:spcPct val="150000"/>
              </a:lnSpc>
            </a:pPr>
            <a:br>
              <a:rPr lang="en-US" altLang="ko-KR" sz="3600">
                <a:solidFill>
                  <a:schemeClr val="bg1"/>
                </a:solidFill>
              </a:rPr>
            </a:br>
            <a:r>
              <a:rPr lang="en-US" altLang="ko-KR" sz="3600">
                <a:solidFill>
                  <a:schemeClr val="bg1"/>
                </a:solidFill>
              </a:rPr>
              <a:t>REST API </a:t>
            </a:r>
            <a:r>
              <a:rPr lang="ko-KR" altLang="en-US" sz="3600">
                <a:solidFill>
                  <a:schemeClr val="bg1"/>
                </a:solidFill>
              </a:rPr>
              <a:t>사</a:t>
            </a:r>
            <a:r>
              <a:rPr lang="ko-KR" altLang="en-US" sz="4000">
                <a:solidFill>
                  <a:schemeClr val="bg1"/>
                </a:solidFill>
              </a:rPr>
              <a:t>용 설명서</a:t>
            </a:r>
            <a:endParaRPr lang="ko-KR" altLang="en-US" b="1" dirty="0">
              <a:solidFill>
                <a:srgbClr val="68D1EA"/>
              </a:solidFill>
              <a:effectLst/>
              <a:latin typeface="빛고을광주_Bold" panose="02020603020101020101" pitchFamily="18" charset="-127"/>
              <a:ea typeface="빛고을광주_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97576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1AE8F3-81F3-485E-BBE7-CCF199742F78}"/>
              </a:ext>
            </a:extLst>
          </p:cNvPr>
          <p:cNvSpPr txBox="1"/>
          <p:nvPr/>
        </p:nvSpPr>
        <p:spPr>
          <a:xfrm>
            <a:off x="839416" y="4653136"/>
            <a:ext cx="62202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>
                <a:solidFill>
                  <a:srgbClr val="0678A6"/>
                </a:solidFill>
                <a:latin typeface="+mj-ea"/>
                <a:ea typeface="+mj-ea"/>
              </a:rPr>
              <a:t>REST </a:t>
            </a:r>
            <a:r>
              <a:rPr lang="en-US" altLang="ko-KR" sz="2000" b="1" dirty="0">
                <a:solidFill>
                  <a:srgbClr val="0678A6"/>
                </a:solidFill>
                <a:latin typeface="+mj-ea"/>
                <a:ea typeface="+mj-ea"/>
              </a:rPr>
              <a:t>Server </a:t>
            </a:r>
            <a:r>
              <a:rPr lang="ko-KR" altLang="en-US" sz="2000" b="1" dirty="0">
                <a:solidFill>
                  <a:srgbClr val="0678A6"/>
                </a:solidFill>
                <a:latin typeface="+mj-ea"/>
                <a:ea typeface="+mj-ea"/>
              </a:rPr>
              <a:t>인터페이스 </a:t>
            </a:r>
            <a:r>
              <a:rPr lang="en-US" altLang="ko-KR" sz="2000" b="1" dirty="0">
                <a:solidFill>
                  <a:srgbClr val="0678A6"/>
                </a:solidFill>
                <a:latin typeface="+mj-ea"/>
                <a:ea typeface="+mj-ea"/>
              </a:rPr>
              <a:t>(</a:t>
            </a:r>
            <a:r>
              <a:rPr lang="ko-KR" altLang="en-US" sz="2000" b="1" dirty="0">
                <a:solidFill>
                  <a:srgbClr val="0678A6"/>
                </a:solidFill>
                <a:latin typeface="+mj-ea"/>
                <a:ea typeface="+mj-ea"/>
              </a:rPr>
              <a:t>저장 데이터 접근 및 변경</a:t>
            </a:r>
            <a:r>
              <a:rPr lang="en-US" altLang="ko-KR" sz="2000" b="1" dirty="0">
                <a:solidFill>
                  <a:srgbClr val="0678A6"/>
                </a:solidFill>
                <a:latin typeface="+mj-ea"/>
                <a:ea typeface="+mj-ea"/>
              </a:rPr>
              <a:t>)</a:t>
            </a:r>
            <a:endParaRPr lang="ko-KR" altLang="en-US" sz="2000" b="1" dirty="0">
              <a:solidFill>
                <a:srgbClr val="0678A6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101932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REST Server </a:t>
            </a:r>
            <a:r>
              <a:rPr lang="ko-KR" altLang="en-US" sz="3600"/>
              <a:t>인터페이스 구조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31800" y="1143000"/>
            <a:ext cx="11518900" cy="256540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저장된 </a:t>
            </a:r>
            <a:r>
              <a:rPr lang="en-US" altLang="ko-KR" sz="2400" dirty="0"/>
              <a:t>AAS </a:t>
            </a:r>
            <a:r>
              <a:rPr lang="ko-KR" altLang="en-US" sz="2400" dirty="0"/>
              <a:t>기반 데이터를 조회할 수 있는 </a:t>
            </a:r>
            <a:r>
              <a:rPr lang="en-US" altLang="ko-KR" sz="2400" dirty="0"/>
              <a:t>REST Server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사용목적 </a:t>
            </a:r>
            <a:endParaRPr lang="en-US" altLang="ko-KR" sz="2000" dirty="0"/>
          </a:p>
          <a:p>
            <a:pPr lvl="2">
              <a:lnSpc>
                <a:spcPct val="150000"/>
              </a:lnSpc>
            </a:pPr>
            <a:r>
              <a:rPr lang="ko-KR" altLang="en-US" sz="1800" dirty="0"/>
              <a:t>외부 서비스에서 클라우드가 수집</a:t>
            </a:r>
            <a:r>
              <a:rPr lang="en-US" altLang="ko-KR" sz="1800" dirty="0"/>
              <a:t>/</a:t>
            </a:r>
            <a:r>
              <a:rPr lang="ko-KR" altLang="en-US" sz="1800" dirty="0"/>
              <a:t>저장한 이력 데이터 조회</a:t>
            </a:r>
            <a:endParaRPr lang="en-US" altLang="ko-KR" sz="1800" dirty="0"/>
          </a:p>
          <a:p>
            <a:pPr lvl="2">
              <a:lnSpc>
                <a:spcPct val="150000"/>
              </a:lnSpc>
            </a:pPr>
            <a:r>
              <a:rPr lang="ko-KR" altLang="en-US" sz="1800" dirty="0"/>
              <a:t>외부 서비스에서 클라우드가 마지막으로 수집</a:t>
            </a:r>
            <a:r>
              <a:rPr lang="en-US" altLang="ko-KR" sz="1800" dirty="0"/>
              <a:t>/</a:t>
            </a:r>
            <a:r>
              <a:rPr lang="ko-KR" altLang="en-US" sz="1800" dirty="0"/>
              <a:t>저장한 데이터 조회</a:t>
            </a:r>
            <a:endParaRPr lang="en-US" altLang="ko-KR" sz="18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사용방법 </a:t>
            </a:r>
            <a:r>
              <a:rPr lang="en-US" altLang="ko-KR" sz="2000" dirty="0"/>
              <a:t>– </a:t>
            </a:r>
            <a:r>
              <a:rPr lang="ko-KR" altLang="en-US" sz="2000" dirty="0"/>
              <a:t>외부 서비스가 </a:t>
            </a:r>
            <a:r>
              <a:rPr lang="en-US" altLang="ko-KR" sz="2000" dirty="0"/>
              <a:t>REST Client </a:t>
            </a:r>
            <a:r>
              <a:rPr lang="ko-KR" altLang="en-US" sz="2000" dirty="0"/>
              <a:t>역할을 하며</a:t>
            </a:r>
            <a:r>
              <a:rPr lang="en-US" altLang="ko-KR" sz="2000" dirty="0"/>
              <a:t>, </a:t>
            </a:r>
            <a:r>
              <a:rPr lang="ko-KR" altLang="en-US" sz="2000" dirty="0"/>
              <a:t>클라우드에 저장된 데이터 요청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8F60D-69FA-4829-9B17-F15351F932E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384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AAS </a:t>
            </a:r>
            <a:r>
              <a:rPr lang="ko-KR" altLang="en-US" sz="3600"/>
              <a:t>태그 리스트 조회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31800" y="1143000"/>
            <a:ext cx="11518900" cy="25654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/>
              <a:t>용도 </a:t>
            </a:r>
            <a:r>
              <a:rPr lang="en-US" altLang="ko-KR" sz="2000" dirty="0"/>
              <a:t>–</a:t>
            </a:r>
            <a:r>
              <a:rPr lang="ko-KR" altLang="en-US" sz="2000" dirty="0"/>
              <a:t> 저장된 </a:t>
            </a:r>
            <a:r>
              <a:rPr lang="en-US" altLang="ko-KR" sz="2000" dirty="0"/>
              <a:t>AAS </a:t>
            </a:r>
            <a:r>
              <a:rPr lang="ko-KR" altLang="en-US" sz="2000" dirty="0"/>
              <a:t>태그 리스트를 요청 </a:t>
            </a:r>
            <a:r>
              <a:rPr lang="en-US" altLang="ko-KR" sz="2000" dirty="0"/>
              <a:t>(</a:t>
            </a:r>
            <a:r>
              <a:rPr lang="en-US" altLang="ko-KR" sz="2000" dirty="0" err="1"/>
              <a:t>InfluxDB</a:t>
            </a:r>
            <a:r>
              <a:rPr lang="ko-KR" altLang="en-US" sz="2000" dirty="0"/>
              <a:t>의 </a:t>
            </a:r>
            <a:r>
              <a:rPr lang="en-US" altLang="ko-KR" sz="2000" dirty="0" err="1"/>
              <a:t>mos</a:t>
            </a:r>
            <a:r>
              <a:rPr lang="en-US" altLang="ko-KR" sz="2000" dirty="0"/>
              <a:t> </a:t>
            </a:r>
            <a:r>
              <a:rPr lang="ko-KR" altLang="en-US" sz="2000" dirty="0"/>
              <a:t>버킷</a:t>
            </a:r>
            <a:r>
              <a:rPr lang="en-US" altLang="ko-KR" sz="2000" dirty="0"/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000" dirty="0"/>
              <a:t>서비스 </a:t>
            </a:r>
            <a:r>
              <a:rPr lang="en-US" altLang="ko-KR" sz="2000" dirty="0"/>
              <a:t>– HTTP/GET</a:t>
            </a:r>
          </a:p>
          <a:p>
            <a:pPr>
              <a:lnSpc>
                <a:spcPct val="150000"/>
              </a:lnSpc>
            </a:pPr>
            <a:r>
              <a:rPr lang="ko-KR" altLang="en-US" sz="2000" dirty="0"/>
              <a:t>서비스 </a:t>
            </a:r>
            <a:r>
              <a:rPr lang="en-US" altLang="ko-KR" sz="2000" dirty="0"/>
              <a:t>URL - /</a:t>
            </a:r>
            <a:r>
              <a:rPr lang="en-US" altLang="ko-KR" sz="2000" dirty="0" err="1"/>
              <a:t>api</a:t>
            </a:r>
            <a:r>
              <a:rPr lang="en-US" altLang="ko-KR" sz="2000" dirty="0"/>
              <a:t>/meta</a:t>
            </a:r>
          </a:p>
          <a:p>
            <a:pPr>
              <a:lnSpc>
                <a:spcPct val="150000"/>
              </a:lnSpc>
            </a:pPr>
            <a:r>
              <a:rPr lang="ko-KR" altLang="en-US" sz="2000" dirty="0"/>
              <a:t>클라이언트 인증 </a:t>
            </a:r>
            <a:r>
              <a:rPr lang="en-US" altLang="ko-KR" sz="2000" dirty="0"/>
              <a:t>– API KEY </a:t>
            </a:r>
            <a:r>
              <a:rPr lang="ko-KR" altLang="en-US" sz="2000" dirty="0"/>
              <a:t>방식 </a:t>
            </a:r>
            <a:r>
              <a:rPr lang="en-US" altLang="ko-KR" sz="2000" dirty="0"/>
              <a:t>(Request </a:t>
            </a:r>
            <a:r>
              <a:rPr lang="ko-KR" altLang="en-US" sz="2000" dirty="0"/>
              <a:t>헤더에 포함하여 전송</a:t>
            </a:r>
            <a:r>
              <a:rPr lang="en-US" altLang="ko-KR" sz="2000" dirty="0"/>
              <a:t>)</a:t>
            </a:r>
            <a:endParaRPr lang="ko-KR" altLang="en-US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8F60D-69FA-4829-9B17-F15351F932E2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BD1C8F7-A7AE-4BCB-8C19-255458AB1E3F}"/>
              </a:ext>
            </a:extLst>
          </p:cNvPr>
          <p:cNvSpPr/>
          <p:nvPr/>
        </p:nvSpPr>
        <p:spPr>
          <a:xfrm>
            <a:off x="534615" y="3987799"/>
            <a:ext cx="11066835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tx2">
                    <a:lumMod val="75000"/>
                  </a:schemeClr>
                </a:solidFill>
              </a:rPr>
              <a:t>(</a:t>
            </a:r>
            <a:r>
              <a:rPr lang="ko-KR" altLang="en-US" b="1" dirty="0">
                <a:solidFill>
                  <a:schemeClr val="tx2">
                    <a:lumMod val="75000"/>
                  </a:schemeClr>
                </a:solidFill>
              </a:rPr>
              <a:t>예시</a:t>
            </a:r>
            <a:r>
              <a:rPr lang="en-US" altLang="ko-KR" b="1" dirty="0">
                <a:solidFill>
                  <a:schemeClr val="tx2">
                    <a:lumMod val="75000"/>
                  </a:schemeClr>
                </a:solidFill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1600" dirty="0">
                <a:solidFill>
                  <a:schemeClr val="tx2">
                    <a:lumMod val="75000"/>
                  </a:schemeClr>
                </a:solidFill>
              </a:rPr>
              <a:t>URL : </a:t>
            </a:r>
            <a:r>
              <a:rPr lang="it-IT" altLang="ko-KR" sz="1600" dirty="0">
                <a:solidFill>
                  <a:schemeClr val="tx2">
                    <a:lumMod val="75000"/>
                  </a:schemeClr>
                </a:solidFill>
              </a:rPr>
              <a:t>http://[</a:t>
            </a:r>
            <a:r>
              <a:rPr lang="it-IT" altLang="ko-KR" sz="1600" dirty="0">
                <a:solidFill>
                  <a:srgbClr val="0070C0"/>
                </a:solidFill>
              </a:rPr>
              <a:t>Cloud IP</a:t>
            </a:r>
            <a:r>
              <a:rPr lang="it-IT" altLang="ko-KR" sz="1600" dirty="0">
                <a:solidFill>
                  <a:schemeClr val="tx2">
                    <a:lumMod val="75000"/>
                  </a:schemeClr>
                </a:solidFill>
              </a:rPr>
              <a:t>]:7770/api/meta</a:t>
            </a:r>
            <a:endParaRPr lang="en-US" altLang="ko-KR" sz="1600" dirty="0">
              <a:solidFill>
                <a:schemeClr val="tx2">
                  <a:lumMod val="75000"/>
                </a:schemeClr>
              </a:solidFill>
            </a:endParaRPr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en-US" altLang="ko-KR" sz="1600" dirty="0">
                <a:solidFill>
                  <a:schemeClr val="tx2">
                    <a:lumMod val="75000"/>
                  </a:schemeClr>
                </a:solidFill>
              </a:rPr>
              <a:t>Header</a:t>
            </a:r>
            <a:r>
              <a:rPr lang="ko-KR" altLang="en-US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altLang="ko-KR" sz="1600" dirty="0">
                <a:solidFill>
                  <a:schemeClr val="tx2">
                    <a:lumMod val="75000"/>
                  </a:schemeClr>
                </a:solidFill>
              </a:rPr>
              <a:t>:</a:t>
            </a:r>
            <a:r>
              <a:rPr lang="ko-KR" altLang="en-US" sz="16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altLang="ko-KR" sz="1600" dirty="0">
                <a:solidFill>
                  <a:schemeClr val="tx2">
                    <a:lumMod val="75000"/>
                  </a:schemeClr>
                </a:solidFill>
              </a:rPr>
              <a:t>Authorization: </a:t>
            </a:r>
            <a:r>
              <a:rPr lang="en-US" altLang="ko-KR" sz="1600" dirty="0" err="1">
                <a:solidFill>
                  <a:schemeClr val="tx2">
                    <a:lumMod val="75000"/>
                  </a:schemeClr>
                </a:solidFill>
              </a:rPr>
              <a:t>Api</a:t>
            </a:r>
            <a:r>
              <a:rPr lang="en-US" altLang="ko-KR" sz="1600" dirty="0">
                <a:solidFill>
                  <a:schemeClr val="tx2">
                    <a:lumMod val="75000"/>
                  </a:schemeClr>
                </a:solidFill>
              </a:rPr>
              <a:t>-Key CLZ86OVKUYIPO7XLDGFNVJLXGDGNBVZUZDFYST36ZR87PEC57L</a:t>
            </a:r>
          </a:p>
        </p:txBody>
      </p:sp>
    </p:spTree>
    <p:extLst>
      <p:ext uri="{BB962C8B-B14F-4D97-AF65-F5344CB8AC3E}">
        <p14:creationId xmlns:p14="http://schemas.microsoft.com/office/powerpoint/2010/main" val="296212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AAS </a:t>
            </a:r>
            <a:r>
              <a:rPr lang="ko-KR" altLang="en-US"/>
              <a:t>태그 리스트 조회 예시</a:t>
            </a:r>
          </a:p>
        </p:txBody>
      </p:sp>
      <p:sp>
        <p:nvSpPr>
          <p:cNvPr id="88" name="슬라이드 번호 개체 틀 8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8F60D-69FA-4829-9B17-F15351F932E2}" type="slidenum">
              <a:rPr lang="ko-KR" altLang="en-US" smtClean="0"/>
              <a:t>5</a:t>
            </a:fld>
            <a:endParaRPr lang="ko-KR" altLang="en-US"/>
          </a:p>
        </p:txBody>
      </p:sp>
      <p:graphicFrame>
        <p:nvGraphicFramePr>
          <p:cNvPr id="89" name="표 2">
            <a:extLst>
              <a:ext uri="{FF2B5EF4-FFF2-40B4-BE49-F238E27FC236}">
                <a16:creationId xmlns:a16="http://schemas.microsoft.com/office/drawing/2014/main" id="{F37AC5AE-5F2F-614A-892A-12154CBA70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6271771"/>
              </p:ext>
            </p:extLst>
          </p:nvPr>
        </p:nvGraphicFramePr>
        <p:xfrm>
          <a:off x="523875" y="1052736"/>
          <a:ext cx="11332765" cy="404766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791706">
                  <a:extLst>
                    <a:ext uri="{9D8B030D-6E8A-4147-A177-3AD203B41FA5}">
                      <a16:colId xmlns:a16="http://schemas.microsoft.com/office/drawing/2014/main" val="141120004"/>
                    </a:ext>
                  </a:extLst>
                </a:gridCol>
                <a:gridCol w="6541059">
                  <a:extLst>
                    <a:ext uri="{9D8B030D-6E8A-4147-A177-3AD203B41FA5}">
                      <a16:colId xmlns:a16="http://schemas.microsoft.com/office/drawing/2014/main" val="2801913782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x-none" altLang="en-US" sz="1400" dirty="0">
                          <a:solidFill>
                            <a:schemeClr val="tx1"/>
                          </a:solidFill>
                        </a:rPr>
                        <a:t>태그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 리스트 요청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외부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서비스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</a:rPr>
                        <a:t>) – CURL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사용 예</a:t>
                      </a:r>
                      <a:endParaRPr lang="x-none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x-none" altLang="en-US" sz="1400" dirty="0">
                          <a:solidFill>
                            <a:schemeClr val="tx1"/>
                          </a:solidFill>
                        </a:rPr>
                        <a:t>태그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 리스트 응답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클라우드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x-none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4027196"/>
                  </a:ext>
                </a:extLst>
              </a:tr>
              <a:tr h="1329613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curl –X GET http://127.0.0.1:7770/api/</a:t>
                      </a:r>
                      <a:r>
                        <a:rPr lang="en-US" altLang="ko-KR" sz="1200" b="1">
                          <a:solidFill>
                            <a:srgbClr val="FF0000"/>
                          </a:solidFill>
                        </a:rPr>
                        <a:t>meta</a:t>
                      </a:r>
                      <a:r>
                        <a:rPr lang="en-US" altLang="ko-KR" sz="120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 -H “Authorization: Api-Key </a:t>
                      </a:r>
                      <a:r>
                        <a:rPr lang="en-US" altLang="ko-KR" sz="105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Uoxgypyus3fdDaawqq7wejdopcA2waW3QmsalweprT0_3pPaqw2==“</a:t>
                      </a:r>
                      <a:endParaRPr lang="x-none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200">
                          <a:latin typeface="Arial" panose="020B0604020202020204" pitchFamily="34" charset="0"/>
                        </a:rPr>
                        <a:t>- </a:t>
                      </a:r>
                      <a:r>
                        <a:rPr lang="ko-KR" altLang="en-US" sz="1200">
                          <a:latin typeface="Arial" panose="020B0604020202020204" pitchFamily="34" charset="0"/>
                        </a:rPr>
                        <a:t>조회 성공 시</a:t>
                      </a:r>
                      <a:endParaRPr lang="en-US" altLang="ko-KR" sz="1200">
                        <a:latin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200">
                          <a:latin typeface="Arial" panose="020B0604020202020204" pitchFamily="34" charset="0"/>
                        </a:rPr>
                        <a:t>{</a:t>
                      </a:r>
                      <a:endParaRPr lang="en-US" altLang="ko-KR" sz="1200" dirty="0">
                        <a:latin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200" dirty="0">
                          <a:latin typeface="Arial" panose="020B0604020202020204" pitchFamily="34" charset="0"/>
                        </a:rPr>
                        <a:t>    </a:t>
                      </a:r>
                      <a:r>
                        <a:rPr lang="en-US" altLang="ko-KR" sz="1200" dirty="0">
                          <a:latin typeface="Arial" panose="020B0604020202020204" pitchFamily="34" charset="0"/>
                        </a:rPr>
                        <a:t>"code": 1,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200" dirty="0">
                          <a:latin typeface="Arial" panose="020B0604020202020204" pitchFamily="34" charset="0"/>
                        </a:rPr>
                        <a:t>    </a:t>
                      </a:r>
                      <a:r>
                        <a:rPr lang="en-US" altLang="ko-KR" sz="1200" dirty="0">
                          <a:latin typeface="Arial" panose="020B0604020202020204" pitchFamily="34" charset="0"/>
                        </a:rPr>
                        <a:t>"message": </a:t>
                      </a:r>
                      <a:r>
                        <a:rPr lang="en-US" altLang="ko-KR" sz="1200">
                          <a:latin typeface="Arial" panose="020B0604020202020204" pitchFamily="34" charset="0"/>
                        </a:rPr>
                        <a:t>"Success", </a:t>
                      </a:r>
                      <a:endParaRPr lang="en-US" altLang="ko-KR" sz="1200" dirty="0">
                        <a:latin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200" dirty="0">
                          <a:latin typeface="Arial" panose="020B0604020202020204" pitchFamily="34" charset="0"/>
                        </a:rPr>
                        <a:t>    </a:t>
                      </a:r>
                      <a:r>
                        <a:rPr lang="en-US" altLang="ko-KR" sz="1200" dirty="0">
                          <a:latin typeface="Arial" panose="020B0604020202020204" pitchFamily="34" charset="0"/>
                        </a:rPr>
                        <a:t>"data":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200" dirty="0">
                          <a:latin typeface="Arial" panose="020B0604020202020204" pitchFamily="34" charset="0"/>
                        </a:rPr>
                        <a:t>   </a:t>
                      </a:r>
                      <a:r>
                        <a:rPr lang="en-US" altLang="ko-KR" sz="1200" dirty="0">
                          <a:latin typeface="Arial" panose="020B0604020202020204" pitchFamily="34" charset="0"/>
                        </a:rPr>
                        <a:t> [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200" dirty="0">
                          <a:latin typeface="Arial" panose="020B0604020202020204" pitchFamily="34" charset="0"/>
                        </a:rPr>
                        <a:t>         </a:t>
                      </a:r>
                      <a:r>
                        <a:rPr lang="en-US" altLang="ko-KR" sz="1200" dirty="0">
                          <a:latin typeface="Arial" panose="020B0604020202020204" pitchFamily="34" charset="0"/>
                        </a:rPr>
                        <a:t>{</a:t>
                      </a:r>
                      <a:r>
                        <a:rPr lang="ko-KR" altLang="en-US" sz="1200" dirty="0"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altLang="ko-KR" sz="1200" dirty="0">
                          <a:latin typeface="Arial" panose="020B0604020202020204" pitchFamily="34" charset="0"/>
                        </a:rPr>
                        <a:t>"NAME": "ns=2;s=Productions.Machine_1.Operational_Data.Annual_Result"},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200" dirty="0">
                          <a:latin typeface="Arial" panose="020B0604020202020204" pitchFamily="34" charset="0"/>
                        </a:rPr>
                        <a:t>         </a:t>
                      </a:r>
                      <a:r>
                        <a:rPr lang="en-US" altLang="ko-KR" sz="1200" dirty="0">
                          <a:latin typeface="Arial" panose="020B0604020202020204" pitchFamily="34" charset="0"/>
                        </a:rPr>
                        <a:t>{</a:t>
                      </a:r>
                      <a:r>
                        <a:rPr lang="ko-KR" altLang="en-US" sz="1200" dirty="0">
                          <a:latin typeface="Arial" panose="020B0604020202020204" pitchFamily="34" charset="0"/>
                        </a:rPr>
                        <a:t> </a:t>
                      </a:r>
                      <a:r>
                        <a:rPr lang="en-US" altLang="ko-KR" sz="1200" dirty="0">
                          <a:latin typeface="Arial" panose="020B0604020202020204" pitchFamily="34" charset="0"/>
                        </a:rPr>
                        <a:t>"NAME": "ns=2;s=Productions.Machine_1.Operational_Data. </a:t>
                      </a:r>
                      <a:r>
                        <a:rPr lang="en-US" altLang="ko-KR" sz="1200" dirty="0" err="1">
                          <a:latin typeface="Arial" panose="020B0604020202020204" pitchFamily="34" charset="0"/>
                        </a:rPr>
                        <a:t>Daily_Result</a:t>
                      </a:r>
                      <a:r>
                        <a:rPr lang="en-US" altLang="ko-KR" sz="1200" dirty="0">
                          <a:latin typeface="Arial" panose="020B0604020202020204" pitchFamily="34" charset="0"/>
                        </a:rPr>
                        <a:t>"},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200" dirty="0">
                          <a:latin typeface="Arial" panose="020B0604020202020204" pitchFamily="34" charset="0"/>
                        </a:rPr>
                        <a:t>             </a:t>
                      </a:r>
                      <a:r>
                        <a:rPr lang="en-US" altLang="ko-KR" sz="1200" dirty="0">
                          <a:latin typeface="Arial" panose="020B0604020202020204" pitchFamily="34" charset="0"/>
                        </a:rPr>
                        <a:t>......</a:t>
                      </a:r>
                      <a:r>
                        <a:rPr lang="ko-KR" altLang="en-US" sz="1200" dirty="0">
                          <a:latin typeface="Arial" panose="020B0604020202020204" pitchFamily="34" charset="0"/>
                        </a:rPr>
                        <a:t> 동일한 구조가 반복됨 </a:t>
                      </a:r>
                      <a:r>
                        <a:rPr lang="en-US" altLang="ko-KR" sz="1200" dirty="0">
                          <a:latin typeface="Arial" panose="020B0604020202020204" pitchFamily="34" charset="0"/>
                        </a:rPr>
                        <a:t>……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     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}</a:t>
                      </a:r>
                      <a:endParaRPr kumimoji="0" lang="ko-KR" altLang="ko-KR" sz="3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endParaRPr lang="x-none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617391"/>
                  </a:ext>
                </a:extLst>
              </a:tr>
              <a:tr h="1329613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x-none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 </a:t>
                      </a:r>
                      <a:r>
                        <a:rPr lang="ko-KR" alt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조회 실패 시</a:t>
                      </a:r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US" alt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  </a:t>
                      </a:r>
                    </a:p>
                    <a:p>
                      <a:r>
                        <a:rPr lang="en-US" alt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"code" : 0,</a:t>
                      </a:r>
                    </a:p>
                    <a:p>
                      <a:r>
                        <a:rPr lang="en-US" alt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"message": "Failed",</a:t>
                      </a:r>
                    </a:p>
                    <a:p>
                      <a:r>
                        <a:rPr lang="en-US" alt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"details": "[</a:t>
                      </a:r>
                      <a:r>
                        <a:rPr lang="ko-KR" alt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오류 메시지</a:t>
                      </a:r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]'</a:t>
                      </a:r>
                    </a:p>
                    <a:p>
                      <a:r>
                        <a:rPr lang="en-US" altLang="ko-KR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}</a:t>
                      </a:r>
                      <a:endParaRPr lang="x-none" altLang="en-US" sz="1200" dirty="0"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36919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9569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AAS </a:t>
            </a:r>
            <a:r>
              <a:rPr lang="ko-KR" altLang="en-US" sz="3600"/>
              <a:t>태그 데이터 조회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31800" y="1143000"/>
            <a:ext cx="11518900" cy="25654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/>
              <a:t>용도 </a:t>
            </a:r>
            <a:r>
              <a:rPr lang="en-US" altLang="ko-KR" sz="2000" dirty="0"/>
              <a:t>–</a:t>
            </a:r>
            <a:r>
              <a:rPr lang="ko-KR" altLang="en-US" sz="2000" dirty="0"/>
              <a:t> 클라우드에 저장된 </a:t>
            </a:r>
            <a:r>
              <a:rPr lang="en-US" altLang="ko-KR" sz="2000" dirty="0"/>
              <a:t>『</a:t>
            </a:r>
            <a:r>
              <a:rPr lang="ko-KR" altLang="en-US" sz="2000" dirty="0"/>
              <a:t>지정된 기간 동안 저장된 </a:t>
            </a:r>
            <a:r>
              <a:rPr lang="en-US" altLang="ko-KR" sz="2000" dirty="0"/>
              <a:t>AAS </a:t>
            </a:r>
            <a:r>
              <a:rPr lang="ko-KR" altLang="en-US" sz="2000" dirty="0"/>
              <a:t>태그 데이터</a:t>
            </a:r>
            <a:r>
              <a:rPr lang="en-US" altLang="ko-KR" sz="2000" dirty="0"/>
              <a:t>』</a:t>
            </a:r>
            <a:r>
              <a:rPr lang="ko-KR" altLang="en-US" sz="2000" dirty="0"/>
              <a:t> 요청</a:t>
            </a:r>
            <a:endParaRPr lang="en-US" altLang="ko-KR" sz="2000" dirty="0"/>
          </a:p>
          <a:p>
            <a:pPr>
              <a:lnSpc>
                <a:spcPct val="150000"/>
              </a:lnSpc>
            </a:pPr>
            <a:r>
              <a:rPr lang="ko-KR" altLang="en-US" sz="2000" dirty="0"/>
              <a:t>서비스 </a:t>
            </a:r>
            <a:r>
              <a:rPr lang="en-US" altLang="ko-KR" sz="2000" dirty="0"/>
              <a:t>– HTTP/GET</a:t>
            </a:r>
          </a:p>
          <a:p>
            <a:pPr>
              <a:lnSpc>
                <a:spcPct val="150000"/>
              </a:lnSpc>
            </a:pPr>
            <a:r>
              <a:rPr lang="ko-KR" altLang="en-US" sz="2000" dirty="0"/>
              <a:t>서비스 </a:t>
            </a:r>
            <a:r>
              <a:rPr lang="en-US" altLang="ko-KR" sz="2000" dirty="0"/>
              <a:t>URL - /</a:t>
            </a:r>
            <a:r>
              <a:rPr lang="en-US" altLang="ko-KR" sz="2000" dirty="0" err="1"/>
              <a:t>api</a:t>
            </a:r>
            <a:r>
              <a:rPr lang="en-US" altLang="ko-KR" sz="2000" dirty="0"/>
              <a:t>/tag</a:t>
            </a:r>
          </a:p>
          <a:p>
            <a:pPr>
              <a:lnSpc>
                <a:spcPct val="150000"/>
              </a:lnSpc>
            </a:pPr>
            <a:r>
              <a:rPr lang="ko-KR" altLang="en-US" sz="2000" dirty="0"/>
              <a:t>클라이언트 인증 </a:t>
            </a:r>
            <a:r>
              <a:rPr lang="en-US" altLang="ko-KR" sz="2000" dirty="0"/>
              <a:t>– API KEY </a:t>
            </a:r>
            <a:r>
              <a:rPr lang="ko-KR" altLang="en-US" sz="2000" dirty="0"/>
              <a:t>방식 </a:t>
            </a:r>
            <a:r>
              <a:rPr lang="en-US" altLang="ko-KR" sz="2000" dirty="0"/>
              <a:t>(Request </a:t>
            </a:r>
            <a:r>
              <a:rPr lang="ko-KR" altLang="en-US" sz="2000" dirty="0"/>
              <a:t>헤더에 포함하여 전송</a:t>
            </a:r>
            <a:r>
              <a:rPr lang="en-US" altLang="ko-KR" sz="2000" dirty="0"/>
              <a:t>)</a:t>
            </a:r>
            <a:endParaRPr lang="ko-KR" altLang="en-US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8F60D-69FA-4829-9B17-F15351F932E2}" type="slidenum">
              <a:rPr lang="ko-KR" altLang="en-US" smtClean="0"/>
              <a:t>6</a:t>
            </a:fld>
            <a:endParaRPr lang="ko-KR" altLang="en-US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7666474"/>
              </p:ext>
            </p:extLst>
          </p:nvPr>
        </p:nvGraphicFramePr>
        <p:xfrm>
          <a:off x="655094" y="3889254"/>
          <a:ext cx="11472746" cy="186506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050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21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0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파라미터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상세 내용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01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“tag”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조회하고자 하는 태그 이름 </a:t>
                      </a:r>
                      <a:r>
                        <a:rPr lang="en-US" altLang="ko-KR" sz="1400" dirty="0"/>
                        <a:t>(URL Encode </a:t>
                      </a:r>
                      <a:r>
                        <a:rPr lang="ko-KR" altLang="en-US" sz="1400" dirty="0"/>
                        <a:t>후 사용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01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“from”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조회하고자 하는 시간구간의 시작시점</a:t>
                      </a:r>
                      <a:r>
                        <a:rPr lang="en-US" altLang="ko-KR" sz="1400" dirty="0"/>
                        <a:t>. (</a:t>
                      </a:r>
                      <a:r>
                        <a:rPr lang="ko-KR" altLang="en-US" sz="1400" dirty="0"/>
                        <a:t>포맷 </a:t>
                      </a:r>
                      <a:r>
                        <a:rPr lang="en-US" altLang="ko-KR" sz="1400" dirty="0"/>
                        <a:t>: </a:t>
                      </a:r>
                      <a:r>
                        <a:rPr lang="pt-BR" altLang="ko-KR" sz="1400" dirty="0"/>
                        <a:t>%Y%m%d%H%M%S</a:t>
                      </a:r>
                      <a:r>
                        <a:rPr lang="en-US" altLang="ko-KR" sz="1400" dirty="0"/>
                        <a:t>, ex :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20220817114729 &lt;- 2022</a:t>
                      </a:r>
                      <a:r>
                        <a:rPr lang="ko-KR" altLang="en-US" sz="1400" dirty="0"/>
                        <a:t>년 </a:t>
                      </a:r>
                      <a:r>
                        <a:rPr lang="en-US" altLang="ko-KR" sz="1400" dirty="0"/>
                        <a:t>8</a:t>
                      </a:r>
                      <a:r>
                        <a:rPr lang="ko-KR" altLang="en-US" sz="1400" dirty="0"/>
                        <a:t>월 </a:t>
                      </a:r>
                      <a:r>
                        <a:rPr lang="en-US" altLang="ko-KR" sz="1400" dirty="0"/>
                        <a:t>17</a:t>
                      </a:r>
                      <a:r>
                        <a:rPr lang="ko-KR" altLang="en-US" sz="1400" dirty="0"/>
                        <a:t>일 </a:t>
                      </a:r>
                      <a:r>
                        <a:rPr lang="en-US" altLang="ko-KR" sz="1400" dirty="0"/>
                        <a:t>11</a:t>
                      </a:r>
                      <a:r>
                        <a:rPr lang="ko-KR" altLang="en-US" sz="1400" dirty="0"/>
                        <a:t>시</a:t>
                      </a:r>
                      <a:r>
                        <a:rPr lang="en-US" altLang="ko-KR" sz="1400" dirty="0"/>
                        <a:t> 47</a:t>
                      </a:r>
                      <a:r>
                        <a:rPr lang="ko-KR" altLang="en-US" sz="1400" dirty="0"/>
                        <a:t>분 </a:t>
                      </a:r>
                      <a:r>
                        <a:rPr lang="en-US" altLang="ko-KR" sz="1400" dirty="0"/>
                        <a:t>29</a:t>
                      </a:r>
                      <a:r>
                        <a:rPr lang="ko-KR" altLang="en-US" sz="1400" dirty="0"/>
                        <a:t>초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01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“to”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조회하고자 하는 시간구간의 종료시점</a:t>
                      </a:r>
                      <a:r>
                        <a:rPr lang="en-US" altLang="ko-KR" sz="1400" dirty="0"/>
                        <a:t>. (</a:t>
                      </a:r>
                      <a:r>
                        <a:rPr lang="ko-KR" altLang="en-US" sz="1400" dirty="0"/>
                        <a:t>포맷 </a:t>
                      </a:r>
                      <a:r>
                        <a:rPr lang="en-US" altLang="ko-KR" sz="1400" dirty="0"/>
                        <a:t>: </a:t>
                      </a:r>
                      <a:r>
                        <a:rPr lang="pt-BR" altLang="ko-KR" sz="1400" dirty="0"/>
                        <a:t>%Y%m%d%H%M%S</a:t>
                      </a:r>
                      <a:r>
                        <a:rPr lang="en-US" altLang="ko-KR" sz="1400" dirty="0"/>
                        <a:t>, ex :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20220817114729 &lt;- 2022</a:t>
                      </a:r>
                      <a:r>
                        <a:rPr lang="ko-KR" altLang="en-US" sz="1400" dirty="0"/>
                        <a:t>년 </a:t>
                      </a:r>
                      <a:r>
                        <a:rPr lang="en-US" altLang="ko-KR" sz="1400" dirty="0"/>
                        <a:t>8</a:t>
                      </a:r>
                      <a:r>
                        <a:rPr lang="ko-KR" altLang="en-US" sz="1400" dirty="0"/>
                        <a:t>월 </a:t>
                      </a:r>
                      <a:r>
                        <a:rPr lang="en-US" altLang="ko-KR" sz="1400" dirty="0"/>
                        <a:t>17</a:t>
                      </a:r>
                      <a:r>
                        <a:rPr lang="ko-KR" altLang="en-US" sz="1400" dirty="0"/>
                        <a:t>일 </a:t>
                      </a:r>
                      <a:r>
                        <a:rPr lang="en-US" altLang="ko-KR" sz="1400" dirty="0"/>
                        <a:t>11</a:t>
                      </a:r>
                      <a:r>
                        <a:rPr lang="ko-KR" altLang="en-US" sz="1400" dirty="0"/>
                        <a:t>시</a:t>
                      </a:r>
                      <a:r>
                        <a:rPr lang="en-US" altLang="ko-KR" sz="1400" dirty="0"/>
                        <a:t> 47</a:t>
                      </a:r>
                      <a:r>
                        <a:rPr lang="ko-KR" altLang="en-US" sz="1400" dirty="0"/>
                        <a:t>분 </a:t>
                      </a:r>
                      <a:r>
                        <a:rPr lang="en-US" altLang="ko-KR" sz="1400" dirty="0"/>
                        <a:t>29</a:t>
                      </a:r>
                      <a:r>
                        <a:rPr lang="ko-KR" altLang="en-US" sz="1400" dirty="0"/>
                        <a:t>초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0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“last”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최신 값 조회 여부 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설정 시 </a:t>
                      </a:r>
                      <a:r>
                        <a:rPr lang="en-US" altLang="ko-KR" sz="1400" dirty="0"/>
                        <a:t>'from', 'to' </a:t>
                      </a:r>
                      <a:r>
                        <a:rPr lang="ko-KR" altLang="en-US" sz="1400" dirty="0"/>
                        <a:t>파라미터는 무시함</a:t>
                      </a:r>
                      <a:r>
                        <a:rPr lang="en-US" altLang="ko-KR" sz="1400" dirty="0"/>
                        <a:t> )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7285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3445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AAS </a:t>
            </a:r>
            <a:r>
              <a:rPr lang="ko-KR" altLang="en-US"/>
              <a:t>태그 데이터 조회 예시</a:t>
            </a:r>
          </a:p>
        </p:txBody>
      </p:sp>
      <p:sp>
        <p:nvSpPr>
          <p:cNvPr id="88" name="슬라이드 번호 개체 틀 8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8F60D-69FA-4829-9B17-F15351F932E2}" type="slidenum">
              <a:rPr lang="ko-KR" altLang="en-US" smtClean="0"/>
              <a:t>7</a:t>
            </a:fld>
            <a:endParaRPr lang="ko-KR" altLang="en-US"/>
          </a:p>
        </p:txBody>
      </p:sp>
      <p:graphicFrame>
        <p:nvGraphicFramePr>
          <p:cNvPr id="5" name="표 2">
            <a:extLst>
              <a:ext uri="{FF2B5EF4-FFF2-40B4-BE49-F238E27FC236}">
                <a16:creationId xmlns:a16="http://schemas.microsoft.com/office/drawing/2014/main" id="{F78BF3E2-4F57-CC4D-BA50-C76EDAACDE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0353941"/>
              </p:ext>
            </p:extLst>
          </p:nvPr>
        </p:nvGraphicFramePr>
        <p:xfrm>
          <a:off x="641445" y="1052736"/>
          <a:ext cx="11215195" cy="368190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199797">
                  <a:extLst>
                    <a:ext uri="{9D8B030D-6E8A-4147-A177-3AD203B41FA5}">
                      <a16:colId xmlns:a16="http://schemas.microsoft.com/office/drawing/2014/main" val="141120004"/>
                    </a:ext>
                  </a:extLst>
                </a:gridCol>
                <a:gridCol w="6015398">
                  <a:extLst>
                    <a:ext uri="{9D8B030D-6E8A-4147-A177-3AD203B41FA5}">
                      <a16:colId xmlns:a16="http://schemas.microsoft.com/office/drawing/2014/main" val="2801913782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x-none" altLang="en-US" sz="1400" dirty="0">
                          <a:solidFill>
                            <a:schemeClr val="tx1"/>
                          </a:solidFill>
                        </a:rPr>
                        <a:t>태그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 데이터 요청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외부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서비스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</a:rPr>
                        <a:t>) – CURL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사용 예</a:t>
                      </a:r>
                      <a:endParaRPr lang="x-none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x-none" altLang="en-US" sz="1400" dirty="0">
                          <a:solidFill>
                            <a:schemeClr val="tx1"/>
                          </a:solidFill>
                        </a:rPr>
                        <a:t>태그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 데이터 응답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클라우드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x-none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4027196"/>
                  </a:ext>
                </a:extLst>
              </a:tr>
              <a:tr h="1329613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- </a:t>
                      </a:r>
                      <a:r>
                        <a:rPr lang="ko-KR" altLang="en-US" sz="120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기간을 지정해서 조회</a:t>
                      </a:r>
                      <a:endParaRPr lang="x-none" altLang="en-US" sz="120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curl –X GET http://127.0.0.1:7770/api/</a:t>
                      </a:r>
                      <a:r>
                        <a:rPr lang="en-US" altLang="ko-KR" sz="1200" b="1">
                          <a:solidFill>
                            <a:srgbClr val="FF0000"/>
                          </a:solidFill>
                        </a:rPr>
                        <a:t>tag</a:t>
                      </a:r>
                      <a:r>
                        <a:rPr lang="en-US" altLang="ko-KR" sz="120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?tag=ns%3D%3Bs%3DRobot.OperationalData.Status&amp;</a:t>
                      </a:r>
                      <a:r>
                        <a:rPr lang="en-US" altLang="ko-KR" sz="1200" b="1">
                          <a:solidFill>
                            <a:srgbClr val="FF0000"/>
                          </a:solidFill>
                        </a:rPr>
                        <a:t>from</a:t>
                      </a:r>
                      <a:r>
                        <a:rPr lang="en-US" altLang="ko-KR" sz="120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=20231019000000&amp;</a:t>
                      </a:r>
                      <a:r>
                        <a:rPr lang="en-US" altLang="ko-KR" sz="1200" b="1">
                          <a:solidFill>
                            <a:srgbClr val="FF0000"/>
                          </a:solidFill>
                        </a:rPr>
                        <a:t>to</a:t>
                      </a:r>
                      <a:r>
                        <a:rPr lang="en-US" altLang="ko-KR" sz="120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=20231030000000 -H "Authorization: Api-Key Uoxgypyus3fdDaawqq7wejdopcA2waW3QmsalweprT0_3pPaqw2==“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en-US" sz="120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>
                          <a:solidFill>
                            <a:srgbClr val="FF0000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※ UTC</a:t>
                      </a:r>
                      <a:r>
                        <a:rPr lang="ko-KR" altLang="en-US" sz="1100">
                          <a:solidFill>
                            <a:srgbClr val="FF0000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 기준으로</a:t>
                      </a:r>
                      <a:r>
                        <a:rPr lang="en-US" altLang="ko-KR" sz="1100">
                          <a:solidFill>
                            <a:srgbClr val="FF0000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, </a:t>
                      </a:r>
                      <a:r>
                        <a:rPr lang="ko-KR" altLang="en-US" sz="1100">
                          <a:solidFill>
                            <a:srgbClr val="FF0000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한국 시간보다 </a:t>
                      </a:r>
                      <a:r>
                        <a:rPr lang="en-US" altLang="ko-KR" sz="1100">
                          <a:solidFill>
                            <a:srgbClr val="FF0000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9</a:t>
                      </a:r>
                      <a:r>
                        <a:rPr lang="ko-KR" altLang="en-US" sz="1100">
                          <a:solidFill>
                            <a:srgbClr val="FF0000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시간 느린 시점으로 설정</a:t>
                      </a:r>
                      <a:endParaRPr lang="en-US" altLang="ko-KR" sz="1100">
                        <a:solidFill>
                          <a:srgbClr val="FF0000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>
                          <a:solidFill>
                            <a:srgbClr val="FF0000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    </a:t>
                      </a:r>
                      <a:r>
                        <a:rPr lang="ko-KR" altLang="en-US" sz="1100">
                          <a:solidFill>
                            <a:srgbClr val="FF0000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 </a:t>
                      </a:r>
                      <a:r>
                        <a:rPr lang="en-US" altLang="ko-KR" sz="1100">
                          <a:solidFill>
                            <a:srgbClr val="FF0000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(ex. </a:t>
                      </a:r>
                      <a:r>
                        <a:rPr lang="ko-KR" altLang="en-US" sz="1100">
                          <a:solidFill>
                            <a:srgbClr val="FF0000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한국 시각 </a:t>
                      </a:r>
                      <a:r>
                        <a:rPr lang="en-US" altLang="ko-KR" sz="1100">
                          <a:solidFill>
                            <a:srgbClr val="FF0000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14:00 </a:t>
                      </a:r>
                      <a:r>
                        <a:rPr lang="ko-KR" altLang="en-US" sz="1100">
                          <a:solidFill>
                            <a:srgbClr val="FF0000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데이터 조회 시 </a:t>
                      </a:r>
                      <a:r>
                        <a:rPr lang="en-US" altLang="ko-KR" sz="1100">
                          <a:solidFill>
                            <a:srgbClr val="FF0000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05:00 </a:t>
                      </a:r>
                      <a:r>
                        <a:rPr lang="ko-KR" altLang="en-US" sz="1100">
                          <a:solidFill>
                            <a:srgbClr val="FF0000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로 설정</a:t>
                      </a:r>
                      <a:r>
                        <a:rPr lang="en-US" altLang="ko-KR" sz="1100">
                          <a:solidFill>
                            <a:srgbClr val="FF0000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en-US" sz="1200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- </a:t>
                      </a:r>
                      <a:r>
                        <a:rPr kumimoji="0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조회 성공 시 응답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 </a:t>
                      </a: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{ 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    "code" : 1,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    "message": "Success",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    "data": [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          { "NAME": "~~~", "TIME": "2023-10-20T:09:18:43.846195Z", "VALUE": "abc" },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          { "NAME": "~~~", "TIME": "2023-10-20T:09:18:45.532144Z", "VALUE": "def" },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              (..</a:t>
                      </a:r>
                      <a:r>
                        <a:rPr kumimoji="0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동일 구조 반복</a:t>
                      </a: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..)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     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  }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Unicode MS"/>
                        </a:rPr>
                        <a:t>※ UTC </a:t>
                      </a:r>
                      <a:r>
                        <a:rPr kumimoji="0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Unicode MS"/>
                        </a:rPr>
                        <a:t>기준 시각으로 한국 표준시와 </a:t>
                      </a:r>
                      <a:r>
                        <a:rPr kumimoji="0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Unicode MS"/>
                        </a:rPr>
                        <a:t>9</a:t>
                      </a:r>
                      <a:r>
                        <a:rPr kumimoji="0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Unicode MS"/>
                        </a:rPr>
                        <a:t>시간 차이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617391"/>
                  </a:ext>
                </a:extLst>
              </a:tr>
              <a:tr h="1329613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x-none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-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조회 실패 시 응답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{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    "code" : 0,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    "message": "Failed" or "No data"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    "details": "[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오류 메시지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]"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 }</a:t>
                      </a: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21595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228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AAS </a:t>
            </a:r>
            <a:r>
              <a:rPr lang="ko-KR" altLang="en-US"/>
              <a:t>태그 데이터 조회 예시</a:t>
            </a:r>
          </a:p>
        </p:txBody>
      </p:sp>
      <p:sp>
        <p:nvSpPr>
          <p:cNvPr id="88" name="슬라이드 번호 개체 틀 8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8F60D-69FA-4829-9B17-F15351F932E2}" type="slidenum">
              <a:rPr lang="ko-KR" altLang="en-US" smtClean="0"/>
              <a:t>8</a:t>
            </a:fld>
            <a:endParaRPr lang="ko-KR" altLang="en-US"/>
          </a:p>
        </p:txBody>
      </p:sp>
      <p:graphicFrame>
        <p:nvGraphicFramePr>
          <p:cNvPr id="5" name="표 2">
            <a:extLst>
              <a:ext uri="{FF2B5EF4-FFF2-40B4-BE49-F238E27FC236}">
                <a16:creationId xmlns:a16="http://schemas.microsoft.com/office/drawing/2014/main" id="{F78BF3E2-4F57-CC4D-BA50-C76EDAACDE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2612130"/>
              </p:ext>
            </p:extLst>
          </p:nvPr>
        </p:nvGraphicFramePr>
        <p:xfrm>
          <a:off x="641445" y="1052736"/>
          <a:ext cx="11215195" cy="336186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199797">
                  <a:extLst>
                    <a:ext uri="{9D8B030D-6E8A-4147-A177-3AD203B41FA5}">
                      <a16:colId xmlns:a16="http://schemas.microsoft.com/office/drawing/2014/main" val="141120004"/>
                    </a:ext>
                  </a:extLst>
                </a:gridCol>
                <a:gridCol w="6015398">
                  <a:extLst>
                    <a:ext uri="{9D8B030D-6E8A-4147-A177-3AD203B41FA5}">
                      <a16:colId xmlns:a16="http://schemas.microsoft.com/office/drawing/2014/main" val="2801913782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x-none" altLang="en-US" sz="1400" dirty="0">
                          <a:solidFill>
                            <a:schemeClr val="tx1"/>
                          </a:solidFill>
                        </a:rPr>
                        <a:t>태그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 데이터 요청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외부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서비스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</a:rPr>
                        <a:t>) – CURL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사용 예</a:t>
                      </a:r>
                      <a:endParaRPr lang="x-none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x-none" altLang="en-US" sz="1400" dirty="0">
                          <a:solidFill>
                            <a:schemeClr val="tx1"/>
                          </a:solidFill>
                        </a:rPr>
                        <a:t>태그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 데이터 응답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클라우드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x-none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4027196"/>
                  </a:ext>
                </a:extLst>
              </a:tr>
              <a:tr h="1329613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- </a:t>
                      </a:r>
                      <a:r>
                        <a:rPr lang="ko-KR" altLang="en-US" sz="1200" b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최종 데이터 하나만 조회</a:t>
                      </a:r>
                      <a:endParaRPr lang="en-US" altLang="ko-KR" sz="120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curl –X GET http://127.0.0.1:7770/api/</a:t>
                      </a:r>
                      <a:r>
                        <a:rPr lang="en-US" altLang="ko-KR" sz="1200" b="1">
                          <a:solidFill>
                            <a:srgbClr val="FF0000"/>
                          </a:solidFill>
                        </a:rPr>
                        <a:t>tag</a:t>
                      </a:r>
                      <a:r>
                        <a:rPr lang="en-US" altLang="ko-KR" sz="120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?tag=ns%3D%3Bs%3DRobot.OperationalData.Status&amp;</a:t>
                      </a:r>
                      <a:r>
                        <a:rPr lang="en-US" altLang="ko-KR" sz="1200" b="1">
                          <a:solidFill>
                            <a:srgbClr val="FF0000"/>
                          </a:solidFill>
                        </a:rPr>
                        <a:t>last</a:t>
                      </a:r>
                      <a:r>
                        <a:rPr lang="en-US" altLang="ko-KR" sz="120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 -H "Authorization: Api-Key Uoxgypyus3fdDaawqq7wejdopcA2waW3QmsalweprT0_3pPaqw2=="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en-US" sz="1200" b="1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  <a:r>
                        <a:rPr kumimoji="0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조회 성공 시 응답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{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   "code" : 1,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   "message": "Success",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   "data": [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         { "NAME": "~~~", "TIME": "2023-10-20T:09:18:43.846195Z", "VALUE": "abc" }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      ]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}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Unicode MS"/>
                        </a:rPr>
                        <a:t>※ UTC </a:t>
                      </a:r>
                      <a:r>
                        <a:rPr kumimoji="0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Unicode MS"/>
                        </a:rPr>
                        <a:t>기준 시각으로 한국 표준시와 </a:t>
                      </a:r>
                      <a:r>
                        <a:rPr kumimoji="0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Unicode MS"/>
                        </a:rPr>
                        <a:t>9</a:t>
                      </a:r>
                      <a:r>
                        <a:rPr kumimoji="0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 Unicode MS"/>
                        </a:rPr>
                        <a:t>시간 차이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617391"/>
                  </a:ext>
                </a:extLst>
              </a:tr>
              <a:tr h="1329613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https://192.168.20.4/api/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tag?</a:t>
                      </a:r>
                      <a:r>
                        <a:rPr lang="en-US" altLang="ko-KR" sz="12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tag=</a:t>
                      </a:r>
                      <a:r>
                        <a:rPr lang="en-US" altLang="ko-KR" sz="120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ns%3D2%3Bs%Productions.Machine_8.Actual_Position&amp;</a:t>
                      </a:r>
                      <a:r>
                        <a:rPr lang="en-US" altLang="ko-KR" sz="1200" b="1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last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en-US" sz="1200" b="1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최종 데이터 하나만 조회</a:t>
                      </a:r>
                      <a:endParaRPr lang="x-none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 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조회 실패 시 응답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{ 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   "code" : 0,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   "message": "Failed" or "No data"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   "details": "[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오류 메시지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]"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}</a:t>
                      </a:r>
                      <a:endParaRPr kumimoji="0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21595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2760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AAS </a:t>
            </a:r>
            <a:r>
              <a:rPr lang="ko-KR" altLang="en-US" sz="3600"/>
              <a:t>단일 태그 </a:t>
            </a:r>
            <a:r>
              <a:rPr lang="ko-KR" altLang="en-US" sz="3600" dirty="0"/>
              <a:t>데이터 변경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31800" y="1143000"/>
            <a:ext cx="11518900" cy="278731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/>
              <a:t>용도 </a:t>
            </a:r>
            <a:r>
              <a:rPr lang="en-US" altLang="ko-KR" sz="2000" dirty="0"/>
              <a:t>–</a:t>
            </a:r>
            <a:r>
              <a:rPr lang="ko-KR" altLang="en-US" sz="2000" dirty="0"/>
              <a:t>하나의 </a:t>
            </a:r>
            <a:r>
              <a:rPr lang="en-US" altLang="ko-KR" sz="2000" dirty="0"/>
              <a:t>『AAS </a:t>
            </a:r>
            <a:r>
              <a:rPr lang="ko-KR" altLang="en-US" sz="2000" dirty="0"/>
              <a:t>태그 데이터</a:t>
            </a:r>
            <a:r>
              <a:rPr lang="en-US" altLang="ko-KR" sz="2000" dirty="0"/>
              <a:t>』</a:t>
            </a:r>
            <a:r>
              <a:rPr lang="ko-KR" altLang="en-US" sz="2000" dirty="0"/>
              <a:t> 현재 값을 변경</a:t>
            </a:r>
            <a:endParaRPr lang="en-US" altLang="ko-KR" sz="2000" dirty="0"/>
          </a:p>
          <a:p>
            <a:pPr>
              <a:lnSpc>
                <a:spcPct val="150000"/>
              </a:lnSpc>
            </a:pPr>
            <a:r>
              <a:rPr lang="ko-KR" altLang="en-US" sz="2000" dirty="0"/>
              <a:t>서비스 </a:t>
            </a:r>
            <a:r>
              <a:rPr lang="en-US" altLang="ko-KR" sz="2000" dirty="0"/>
              <a:t>– HTTP/POST </a:t>
            </a:r>
            <a:r>
              <a:rPr lang="ko-KR" altLang="en-US" sz="2000" dirty="0"/>
              <a:t>또는 </a:t>
            </a:r>
            <a:r>
              <a:rPr lang="en-US" altLang="ko-KR" sz="2000" dirty="0"/>
              <a:t>PUT</a:t>
            </a:r>
          </a:p>
          <a:p>
            <a:pPr>
              <a:lnSpc>
                <a:spcPct val="150000"/>
              </a:lnSpc>
            </a:pPr>
            <a:r>
              <a:rPr lang="ko-KR" altLang="en-US" sz="2000" dirty="0"/>
              <a:t>서비스 </a:t>
            </a:r>
            <a:r>
              <a:rPr lang="en-US" altLang="ko-KR" sz="2000" dirty="0"/>
              <a:t>URL - /</a:t>
            </a:r>
            <a:r>
              <a:rPr lang="en-US" altLang="ko-KR" sz="2000" dirty="0" err="1"/>
              <a:t>api</a:t>
            </a:r>
            <a:r>
              <a:rPr lang="en-US" altLang="ko-KR" sz="2000" dirty="0"/>
              <a:t>/tag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8F60D-69FA-4829-9B17-F15351F932E2}" type="slidenum">
              <a:rPr lang="ko-KR" altLang="en-US" smtClean="0"/>
              <a:t>9</a:t>
            </a:fld>
            <a:endParaRPr lang="ko-KR" altLang="en-US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E70E887-50F4-4E38-9B91-AB420A4F38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898169"/>
              </p:ext>
            </p:extLst>
          </p:nvPr>
        </p:nvGraphicFramePr>
        <p:xfrm>
          <a:off x="817380" y="4223263"/>
          <a:ext cx="11004983" cy="1119036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78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245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0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/>
                        <a:t>파라미터</a:t>
                      </a:r>
                      <a:endParaRPr lang="ko-KR" altLang="en-US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/>
                        <a:t>상세 내용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01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“tag”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 b="0" dirty="0"/>
                        <a:t>조회하고자 하는 태그 이름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01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“value”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 b="0" dirty="0"/>
                        <a:t>변경하고자 하는 값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4294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AAS </a:t>
            </a:r>
            <a:r>
              <a:rPr lang="ko-KR" altLang="en-US" dirty="0"/>
              <a:t>태그 데이터 변경 예시</a:t>
            </a:r>
          </a:p>
        </p:txBody>
      </p:sp>
      <p:sp>
        <p:nvSpPr>
          <p:cNvPr id="88" name="슬라이드 번호 개체 틀 8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8F60D-69FA-4829-9B17-F15351F932E2}" type="slidenum">
              <a:rPr lang="ko-KR" altLang="en-US" smtClean="0"/>
              <a:t>10</a:t>
            </a:fld>
            <a:endParaRPr lang="ko-KR" altLang="en-US"/>
          </a:p>
        </p:txBody>
      </p:sp>
      <p:graphicFrame>
        <p:nvGraphicFramePr>
          <p:cNvPr id="6" name="표 2">
            <a:extLst>
              <a:ext uri="{FF2B5EF4-FFF2-40B4-BE49-F238E27FC236}">
                <a16:creationId xmlns:a16="http://schemas.microsoft.com/office/drawing/2014/main" id="{33C28030-C13B-0344-A2C0-9BC12E8EAA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723876"/>
              </p:ext>
            </p:extLst>
          </p:nvPr>
        </p:nvGraphicFramePr>
        <p:xfrm>
          <a:off x="609600" y="1052736"/>
          <a:ext cx="11247040" cy="301895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229726">
                  <a:extLst>
                    <a:ext uri="{9D8B030D-6E8A-4147-A177-3AD203B41FA5}">
                      <a16:colId xmlns:a16="http://schemas.microsoft.com/office/drawing/2014/main" val="141120004"/>
                    </a:ext>
                  </a:extLst>
                </a:gridCol>
                <a:gridCol w="6017314">
                  <a:extLst>
                    <a:ext uri="{9D8B030D-6E8A-4147-A177-3AD203B41FA5}">
                      <a16:colId xmlns:a16="http://schemas.microsoft.com/office/drawing/2014/main" val="2801913782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x-none" altLang="en-US" sz="1400" dirty="0">
                          <a:solidFill>
                            <a:schemeClr val="tx1"/>
                          </a:solidFill>
                        </a:rPr>
                        <a:t>태그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 데이터 요청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외부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서비스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</a:rPr>
                        <a:t>) – CURL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사용 예</a:t>
                      </a:r>
                      <a:endParaRPr lang="x-none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x-none" altLang="en-US" sz="1400" dirty="0">
                          <a:solidFill>
                            <a:schemeClr val="tx1"/>
                          </a:solidFill>
                          <a:cs typeface="Arial" panose="020B0604020202020204" pitchFamily="34" charset="0"/>
                        </a:rPr>
                        <a:t>태그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데이터 응답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클라우드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x-none" altLang="en-US" sz="1400" dirty="0">
                        <a:solidFill>
                          <a:schemeClr val="tx1"/>
                        </a:solidFill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4027196"/>
                  </a:ext>
                </a:extLst>
              </a:tr>
              <a:tr h="1329613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curl –X POST http://127.0.0.1:7770/api/</a:t>
                      </a:r>
                      <a:r>
                        <a:rPr lang="en-US" altLang="ko-KR" sz="1200" b="1">
                          <a:solidFill>
                            <a:srgbClr val="FF0000"/>
                          </a:solidFill>
                        </a:rPr>
                        <a:t>tag</a:t>
                      </a:r>
                      <a:r>
                        <a:rPr lang="en-US" altLang="ko-KR" sz="120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 --data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"@put.json" –H "Content-Type: application/json"</a:t>
                      </a:r>
                      <a:endParaRPr lang="en-US" altLang="ko-KR" sz="120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[body </a:t>
                      </a:r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데이터 형식 </a:t>
                      </a:r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(JSON)]</a:t>
                      </a:r>
                      <a:endParaRPr lang="en-US" altLang="ko-KR" sz="12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    “tag”: ”</a:t>
                      </a:r>
                      <a:r>
                        <a:rPr kumimoji="0" lang="ko-KR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/>
                        </a:rPr>
                        <a:t>ns</a:t>
                      </a:r>
                      <a:r>
                        <a:rPr kumimoji="0" lang="ko-KR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/>
                        </a:rPr>
                        <a:t>=2;s=Productions.Machine_8.Actual</a:t>
                      </a:r>
                      <a:r>
                        <a:rPr kumimoji="0" lang="ko-KR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/>
                        </a:rPr>
                        <a:t>_Position</a:t>
                      </a:r>
                      <a:r>
                        <a:rPr kumimoji="0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/>
                        </a:rPr>
                        <a:t>”,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/>
                        </a:rPr>
                        <a:t>     "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value": 1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200" b="0" dirty="0">
                          <a:solidFill>
                            <a:schemeClr val="tx1"/>
                          </a:solidFill>
                        </a:rPr>
                        <a:t>}</a:t>
                      </a:r>
                      <a:endParaRPr lang="x-none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-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변경 성공 시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응답</a:t>
                      </a:r>
                      <a:endParaRPr lang="en-US" altLang="ko-KR" sz="11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에스코어 드림 3 Light" panose="020B0303030302020204" pitchFamily="34" charset="-127"/>
                        <a:cs typeface="Arial" panose="020B0604020202020204" pitchFamily="34" charset="0"/>
                      </a:endParaRPr>
                    </a:p>
                    <a:p>
                      <a:pPr lvl="0" algn="just">
                        <a:lnSpc>
                          <a:spcPct val="100000"/>
                        </a:lnSpc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 {  </a:t>
                      </a:r>
                    </a:p>
                    <a:p>
                      <a:pPr lvl="0" algn="just">
                        <a:lnSpc>
                          <a:spcPct val="100000"/>
                        </a:lnSpc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    “code”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: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1,</a:t>
                      </a:r>
                    </a:p>
                    <a:p>
                      <a:pPr lvl="0" algn="just">
                        <a:lnSpc>
                          <a:spcPct val="100000"/>
                        </a:lnSpc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    “message”: “Success”</a:t>
                      </a:r>
                    </a:p>
                    <a:p>
                      <a:pPr lvl="0" algn="just">
                        <a:lnSpc>
                          <a:spcPct val="100000"/>
                        </a:lnSpc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 }</a:t>
                      </a:r>
                      <a:endParaRPr lang="ko-KR" alt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617391"/>
                  </a:ext>
                </a:extLst>
              </a:tr>
              <a:tr h="125729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x-none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변경 </a:t>
                      </a:r>
                      <a:r>
                        <a:rPr lang="ko-KR" altLang="en-US" sz="1100" dirty="0"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실패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 시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응답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에스코어 드림 3 Light" panose="020B0303030302020204" pitchFamily="34" charset="-127"/>
                        <a:cs typeface="Arial" panose="020B0604020202020204" pitchFamily="34" charset="0"/>
                      </a:endParaRPr>
                    </a:p>
                    <a:p>
                      <a:pPr lvl="0" algn="just">
                        <a:lnSpc>
                          <a:spcPct val="100000"/>
                        </a:lnSpc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 {  </a:t>
                      </a:r>
                    </a:p>
                    <a:p>
                      <a:pPr lvl="0" algn="just">
                        <a:lnSpc>
                          <a:spcPct val="100000"/>
                        </a:lnSpc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    “code”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: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0,</a:t>
                      </a:r>
                    </a:p>
                    <a:p>
                      <a:pPr lvl="0" algn="just">
                        <a:lnSpc>
                          <a:spcPct val="100000"/>
                        </a:lnSpc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    “message”: “Failed”</a:t>
                      </a:r>
                      <a:r>
                        <a:rPr lang="en-US" altLang="ko-KR" sz="1100" dirty="0"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,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에스코어 드림 3 Light" panose="020B0303030302020204" pitchFamily="34" charset="-127"/>
                        <a:cs typeface="Arial" panose="020B0604020202020204" pitchFamily="34" charset="0"/>
                      </a:endParaRPr>
                    </a:p>
                    <a:p>
                      <a:pPr lvl="0" algn="just">
                        <a:lnSpc>
                          <a:spcPct val="100000"/>
                        </a:lnSpc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    “details”: “[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오류 메시지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]“</a:t>
                      </a:r>
                    </a:p>
                    <a:p>
                      <a:pPr lvl="0" algn="just">
                        <a:lnSpc>
                          <a:spcPct val="100000"/>
                        </a:lnSpc>
                      </a:pPr>
                      <a:r>
                        <a:rPr lang="en-US" altLang="ko-KR" sz="1100" dirty="0"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}</a:t>
                      </a:r>
                      <a:endParaRPr lang="ko-KR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5200778"/>
                  </a:ext>
                </a:extLst>
              </a:tr>
            </a:tbl>
          </a:graphicData>
        </a:graphic>
      </p:graphicFrame>
      <p:cxnSp>
        <p:nvCxnSpPr>
          <p:cNvPr id="5" name="연결선: 꺾임 4">
            <a:extLst>
              <a:ext uri="{FF2B5EF4-FFF2-40B4-BE49-F238E27FC236}">
                <a16:creationId xmlns:a16="http://schemas.microsoft.com/office/drawing/2014/main" id="{655D0236-C227-83B5-159D-3BB943821D78}"/>
              </a:ext>
            </a:extLst>
          </p:cNvPr>
          <p:cNvCxnSpPr>
            <a:cxnSpLocks/>
            <a:endCxn id="11" idx="1"/>
          </p:cNvCxnSpPr>
          <p:nvPr/>
        </p:nvCxnSpPr>
        <p:spPr>
          <a:xfrm rot="5400000">
            <a:off x="-1125231" y="3517449"/>
            <a:ext cx="3562031" cy="92367"/>
          </a:xfrm>
          <a:prstGeom prst="bentConnector4">
            <a:avLst>
              <a:gd name="adj1" fmla="val -183"/>
              <a:gd name="adj2" fmla="val 347491"/>
            </a:avLst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819257FB-4B2E-84AC-236F-F4FF77127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020770"/>
            <a:ext cx="1844200" cy="64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212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AAS </a:t>
            </a:r>
            <a:r>
              <a:rPr lang="ko-KR" altLang="en-US" sz="3600"/>
              <a:t>블록 태그 데이터 업로드</a:t>
            </a:r>
            <a:endParaRPr lang="ko-KR" altLang="en-US" sz="36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31800" y="1143000"/>
            <a:ext cx="11518900" cy="278731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/>
              <a:t>용도 </a:t>
            </a:r>
            <a:r>
              <a:rPr lang="en-US" altLang="ko-KR" sz="2000" dirty="0"/>
              <a:t>–</a:t>
            </a:r>
            <a:r>
              <a:rPr lang="ko-KR" altLang="en-US" sz="2000" dirty="0"/>
              <a:t> 타 저장소에 저장된 제조데이터를 블록단위로 </a:t>
            </a:r>
            <a:r>
              <a:rPr lang="en-US" altLang="ko-KR" sz="2000" dirty="0"/>
              <a:t>AAS </a:t>
            </a:r>
            <a:r>
              <a:rPr lang="ko-KR" altLang="en-US" sz="2000" dirty="0"/>
              <a:t>시계열 데이터베이스에 업로드</a:t>
            </a:r>
            <a:endParaRPr lang="en-US" altLang="ko-KR" sz="2000" dirty="0"/>
          </a:p>
          <a:p>
            <a:pPr>
              <a:lnSpc>
                <a:spcPct val="150000"/>
              </a:lnSpc>
            </a:pPr>
            <a:r>
              <a:rPr lang="ko-KR" altLang="en-US" sz="2000" dirty="0"/>
              <a:t>서비스 </a:t>
            </a:r>
            <a:r>
              <a:rPr lang="en-US" altLang="ko-KR" sz="2000" dirty="0"/>
              <a:t>– HTTP/POST </a:t>
            </a:r>
            <a:r>
              <a:rPr lang="ko-KR" altLang="en-US" sz="2000" dirty="0"/>
              <a:t>또는 </a:t>
            </a:r>
            <a:r>
              <a:rPr lang="en-US" altLang="ko-KR" sz="2000" dirty="0"/>
              <a:t>PUT</a:t>
            </a:r>
          </a:p>
          <a:p>
            <a:pPr>
              <a:lnSpc>
                <a:spcPct val="150000"/>
              </a:lnSpc>
            </a:pPr>
            <a:r>
              <a:rPr lang="ko-KR" altLang="en-US" sz="2000" dirty="0"/>
              <a:t>서비스 </a:t>
            </a:r>
            <a:r>
              <a:rPr lang="en-US" altLang="ko-KR" sz="2000" dirty="0"/>
              <a:t>URL - /</a:t>
            </a:r>
            <a:r>
              <a:rPr lang="en-US" altLang="ko-KR" sz="2000" dirty="0" err="1"/>
              <a:t>api</a:t>
            </a:r>
            <a:r>
              <a:rPr lang="en-US" altLang="ko-KR" sz="2000" dirty="0"/>
              <a:t>/tag/block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8F60D-69FA-4829-9B17-F15351F932E2}" type="slidenum">
              <a:rPr lang="ko-KR" altLang="en-US" smtClean="0"/>
              <a:t>11</a:t>
            </a:fld>
            <a:endParaRPr lang="ko-KR" altLang="en-US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E70E887-50F4-4E38-9B91-AB420A4F38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9484956"/>
              </p:ext>
            </p:extLst>
          </p:nvPr>
        </p:nvGraphicFramePr>
        <p:xfrm>
          <a:off x="817380" y="4223263"/>
          <a:ext cx="11004983" cy="18650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78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245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0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/>
                        <a:t>파라미터</a:t>
                      </a:r>
                      <a:endParaRPr lang="ko-KR" altLang="en-US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/>
                        <a:t>상세 내용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01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/>
                        <a:t>“block”</a:t>
                      </a:r>
                      <a:endParaRPr lang="en-US" altLang="ko-KR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 b="0"/>
                        <a:t>데이터가 담긴 배열 블록</a:t>
                      </a:r>
                      <a:endParaRPr lang="ko-KR" altLang="en-US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5553623"/>
                  </a:ext>
                </a:extLst>
              </a:tr>
              <a:tr h="37301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“tag”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 b="0" dirty="0"/>
                        <a:t>조회하고자 하는 태그 이름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01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/>
                        <a:t>“value”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 b="0" dirty="0"/>
                        <a:t>변경하고자 하는 값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01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/>
                        <a:t>“timestamp”</a:t>
                      </a:r>
                      <a:endParaRPr lang="en-US" altLang="ko-KR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각 태그가 저장될 시점</a:t>
                      </a:r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(nanosecond</a:t>
                      </a: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단위의 </a:t>
                      </a:r>
                      <a:r>
                        <a:rPr lang="en-US" altLang="ko-KR" sz="1400" b="0">
                          <a:solidFill>
                            <a:schemeClr val="tx1"/>
                          </a:solidFill>
                        </a:rPr>
                        <a:t>unix timestamp)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85258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8461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AAS </a:t>
            </a:r>
            <a:r>
              <a:rPr lang="ko-KR" altLang="en-US"/>
              <a:t>블록 태그 데이터 업로드 예시</a:t>
            </a:r>
            <a:endParaRPr lang="ko-KR" altLang="en-US" dirty="0"/>
          </a:p>
        </p:txBody>
      </p:sp>
      <p:sp>
        <p:nvSpPr>
          <p:cNvPr id="88" name="슬라이드 번호 개체 틀 8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8F60D-69FA-4829-9B17-F15351F932E2}" type="slidenum">
              <a:rPr lang="ko-KR" altLang="en-US" smtClean="0"/>
              <a:t>12</a:t>
            </a:fld>
            <a:endParaRPr lang="ko-KR" altLang="en-US"/>
          </a:p>
        </p:txBody>
      </p:sp>
      <p:graphicFrame>
        <p:nvGraphicFramePr>
          <p:cNvPr id="6" name="표 2">
            <a:extLst>
              <a:ext uri="{FF2B5EF4-FFF2-40B4-BE49-F238E27FC236}">
                <a16:creationId xmlns:a16="http://schemas.microsoft.com/office/drawing/2014/main" id="{33C28030-C13B-0344-A2C0-9BC12E8EAA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5782216"/>
              </p:ext>
            </p:extLst>
          </p:nvPr>
        </p:nvGraphicFramePr>
        <p:xfrm>
          <a:off x="609600" y="1052736"/>
          <a:ext cx="11247040" cy="309127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229726">
                  <a:extLst>
                    <a:ext uri="{9D8B030D-6E8A-4147-A177-3AD203B41FA5}">
                      <a16:colId xmlns:a16="http://schemas.microsoft.com/office/drawing/2014/main" val="141120004"/>
                    </a:ext>
                  </a:extLst>
                </a:gridCol>
                <a:gridCol w="6017314">
                  <a:extLst>
                    <a:ext uri="{9D8B030D-6E8A-4147-A177-3AD203B41FA5}">
                      <a16:colId xmlns:a16="http://schemas.microsoft.com/office/drawing/2014/main" val="2801913782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x-none" altLang="en-US" sz="1400" dirty="0">
                          <a:solidFill>
                            <a:schemeClr val="tx1"/>
                          </a:solidFill>
                        </a:rPr>
                        <a:t>태그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 데이터 요청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외부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서비스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</a:rPr>
                        <a:t>) – CURL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사용 예</a:t>
                      </a:r>
                      <a:endParaRPr lang="x-none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x-none" altLang="en-US" sz="1400" dirty="0">
                          <a:solidFill>
                            <a:schemeClr val="tx1"/>
                          </a:solidFill>
                        </a:rPr>
                        <a:t>태그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 데이터 응답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클라우드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x-none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4027196"/>
                  </a:ext>
                </a:extLst>
              </a:tr>
              <a:tr h="1329613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curl –X POST http://127.0.0.1:7770/api/</a:t>
                      </a:r>
                      <a:r>
                        <a:rPr lang="en-US" altLang="ko-KR" sz="1200" b="1">
                          <a:solidFill>
                            <a:srgbClr val="FF0000"/>
                          </a:solidFill>
                        </a:rPr>
                        <a:t>tag</a:t>
                      </a:r>
                      <a:r>
                        <a:rPr lang="en-US" altLang="ko-KR" sz="120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/</a:t>
                      </a:r>
                      <a:r>
                        <a:rPr lang="en-US" altLang="ko-KR" sz="1200" b="1">
                          <a:solidFill>
                            <a:srgbClr val="FF0000"/>
                          </a:solidFill>
                        </a:rPr>
                        <a:t>block</a:t>
                      </a:r>
                      <a:r>
                        <a:rPr lang="en-US" altLang="ko-KR" sz="120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 --data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"@put.json" –H "Content-Type: application/json"</a:t>
                      </a:r>
                      <a:endParaRPr lang="en-US" altLang="ko-KR" sz="120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[body </a:t>
                      </a:r>
                      <a:r>
                        <a:rPr lang="ko-KR" altLang="en-US" sz="1200" b="1">
                          <a:solidFill>
                            <a:schemeClr val="tx1"/>
                          </a:solidFill>
                        </a:rPr>
                        <a:t>데이터 형식 </a:t>
                      </a:r>
                      <a:r>
                        <a:rPr lang="en-US" altLang="ko-KR" sz="1200" b="1">
                          <a:solidFill>
                            <a:schemeClr val="tx1"/>
                          </a:solidFill>
                        </a:rPr>
                        <a:t>(JSON)]</a:t>
                      </a:r>
                      <a:endParaRPr lang="en-US" altLang="ko-KR" sz="1200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{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   “block”:[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    </a:t>
                      </a:r>
                      <a:r>
                        <a:rPr lang="en-US" altLang="ko-KR" sz="1100" b="0">
                          <a:solidFill>
                            <a:schemeClr val="tx1"/>
                          </a:solidFill>
                          <a:latin typeface="+mn-lt"/>
                        </a:rPr>
                        <a:t>{＂tag＂:＂</a:t>
                      </a:r>
                      <a:r>
                        <a:rPr kumimoji="0" lang="ko-KR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ns</a:t>
                      </a:r>
                      <a:r>
                        <a:rPr kumimoji="0" lang="ko-KR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=2;s=Productions.Machine_8.Actual</a:t>
                      </a:r>
                      <a:r>
                        <a:rPr kumimoji="0" lang="ko-KR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_Position</a:t>
                      </a:r>
                      <a:r>
                        <a:rPr kumimoji="0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“ , “value”: 123,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</a:t>
                      </a:r>
                      <a:r>
                        <a:rPr lang="en-US" altLang="ko-KR" sz="1100" b="0">
                          <a:solidFill>
                            <a:schemeClr val="tx1"/>
                          </a:solidFill>
                          <a:latin typeface="+mn-lt"/>
                        </a:rPr>
                        <a:t>＂</a:t>
                      </a:r>
                      <a:r>
                        <a:rPr kumimoji="0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timestamp</a:t>
                      </a:r>
                      <a:r>
                        <a:rPr lang="en-US" altLang="ko-KR" sz="1100" b="0">
                          <a:solidFill>
                            <a:schemeClr val="tx1"/>
                          </a:solidFill>
                          <a:latin typeface="+mn-lt"/>
                        </a:rPr>
                        <a:t>＂</a:t>
                      </a:r>
                      <a:r>
                        <a:rPr kumimoji="0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:</a:t>
                      </a:r>
                      <a:r>
                        <a:rPr kumimoji="0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kumimoji="0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1699211523000000000 } 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>
                          <a:solidFill>
                            <a:schemeClr val="tx1"/>
                          </a:solidFill>
                          <a:latin typeface="+mn-lt"/>
                        </a:rPr>
                        <a:t>    {＂tag＂:＂</a:t>
                      </a:r>
                      <a:r>
                        <a:rPr kumimoji="0" lang="ko-KR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ns=2;s=Productions.Machine_8.Actual_</a:t>
                      </a:r>
                      <a:r>
                        <a:rPr kumimoji="0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Temp”, “value”: 456,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     </a:t>
                      </a:r>
                      <a:r>
                        <a:rPr lang="en-US" altLang="ko-KR" sz="1100" b="0">
                          <a:solidFill>
                            <a:schemeClr val="tx1"/>
                          </a:solidFill>
                          <a:latin typeface="+mn-lt"/>
                        </a:rPr>
                        <a:t>＂</a:t>
                      </a:r>
                      <a:r>
                        <a:rPr kumimoji="0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timestamp</a:t>
                      </a:r>
                      <a:r>
                        <a:rPr lang="en-US" altLang="ko-KR" sz="1100" b="0">
                          <a:solidFill>
                            <a:schemeClr val="tx1"/>
                          </a:solidFill>
                          <a:latin typeface="+mn-lt"/>
                        </a:rPr>
                        <a:t>＂</a:t>
                      </a:r>
                      <a:r>
                        <a:rPr kumimoji="0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:</a:t>
                      </a:r>
                      <a:r>
                        <a:rPr kumimoji="0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kumimoji="0" lang="en-US" altLang="ko-K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1699211524000000000 } </a:t>
                      </a:r>
                      <a:endParaRPr kumimoji="0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100" b="0">
                          <a:solidFill>
                            <a:schemeClr val="tx1"/>
                          </a:solidFill>
                        </a:rPr>
                        <a:t>}</a:t>
                      </a:r>
                      <a:endParaRPr lang="x-none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-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업로드 성공 시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응답</a:t>
                      </a:r>
                      <a:endParaRPr lang="en-US" altLang="ko-KR" sz="11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에스코어 드림 3 Light" panose="020B0303030302020204" pitchFamily="34" charset="-127"/>
                        <a:cs typeface="Arial" panose="020B0604020202020204" pitchFamily="34" charset="0"/>
                      </a:endParaRPr>
                    </a:p>
                    <a:p>
                      <a:pPr lvl="0" algn="just">
                        <a:lnSpc>
                          <a:spcPct val="100000"/>
                        </a:lnSpc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 {  </a:t>
                      </a:r>
                    </a:p>
                    <a:p>
                      <a:pPr lvl="0" algn="just">
                        <a:lnSpc>
                          <a:spcPct val="100000"/>
                        </a:lnSpc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    “code”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: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1,</a:t>
                      </a:r>
                    </a:p>
                    <a:p>
                      <a:pPr lvl="0" algn="just">
                        <a:lnSpc>
                          <a:spcPct val="100000"/>
                        </a:lnSpc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    “message”: “Success”</a:t>
                      </a:r>
                    </a:p>
                    <a:p>
                      <a:pPr lvl="0" algn="just">
                        <a:lnSpc>
                          <a:spcPct val="100000"/>
                        </a:lnSpc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 }</a:t>
                      </a:r>
                      <a:endParaRPr lang="ko-KR" alt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617391"/>
                  </a:ext>
                </a:extLst>
              </a:tr>
              <a:tr h="1329613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x-none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-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업로드 </a:t>
                      </a:r>
                      <a:r>
                        <a:rPr lang="ko-KR" altLang="en-US" sz="1100" dirty="0"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실패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 시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응답 </a:t>
                      </a:r>
                      <a:r>
                        <a:rPr lang="en-US" altLang="ko-KR" sz="11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한 태그의 값이라도 </a:t>
                      </a:r>
                      <a:r>
                        <a:rPr lang="ko-KR" altLang="en-US" sz="11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잘못되어있으면</a:t>
                      </a:r>
                      <a:r>
                        <a:rPr lang="ko-KR" altLang="en-US" sz="11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 전부 전송 실패</a:t>
                      </a:r>
                      <a:r>
                        <a:rPr lang="en-US" altLang="ko-KR" sz="11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lvl="0" algn="just">
                        <a:lnSpc>
                          <a:spcPct val="100000"/>
                        </a:lnSpc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 {  </a:t>
                      </a:r>
                    </a:p>
                    <a:p>
                      <a:pPr lvl="0" algn="just">
                        <a:lnSpc>
                          <a:spcPct val="100000"/>
                        </a:lnSpc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    “code”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: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0,</a:t>
                      </a:r>
                    </a:p>
                    <a:p>
                      <a:pPr lvl="0" algn="just">
                        <a:lnSpc>
                          <a:spcPct val="100000"/>
                        </a:lnSpc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    “message”: “Failed”</a:t>
                      </a:r>
                      <a:r>
                        <a:rPr lang="en-US" altLang="ko-KR" sz="1100" dirty="0"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,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에스코어 드림 3 Light" panose="020B0303030302020204" pitchFamily="34" charset="-127"/>
                        <a:cs typeface="Arial" panose="020B0604020202020204" pitchFamily="34" charset="0"/>
                      </a:endParaRPr>
                    </a:p>
                    <a:p>
                      <a:pPr lvl="0" algn="just">
                        <a:lnSpc>
                          <a:spcPct val="100000"/>
                        </a:lnSpc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    “details”: “[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오류 메시지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]“</a:t>
                      </a:r>
                    </a:p>
                    <a:p>
                      <a:pPr lvl="0" algn="just">
                        <a:lnSpc>
                          <a:spcPct val="100000"/>
                        </a:lnSpc>
                      </a:pPr>
                      <a:r>
                        <a:rPr lang="en-US" altLang="ko-KR" sz="1100" dirty="0"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에스코어 드림 3 Light" panose="020B0303030302020204" pitchFamily="34" charset="-127"/>
                          <a:cs typeface="Arial" panose="020B0604020202020204" pitchFamily="34" charset="0"/>
                        </a:rPr>
                        <a:t>}</a:t>
                      </a:r>
                      <a:endParaRPr lang="ko-KR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5200778"/>
                  </a:ext>
                </a:extLst>
              </a:tr>
            </a:tbl>
          </a:graphicData>
        </a:graphic>
      </p:graphicFrame>
      <p:cxnSp>
        <p:nvCxnSpPr>
          <p:cNvPr id="5" name="연결선: 꺾임 4">
            <a:extLst>
              <a:ext uri="{FF2B5EF4-FFF2-40B4-BE49-F238E27FC236}">
                <a16:creationId xmlns:a16="http://schemas.microsoft.com/office/drawing/2014/main" id="{655D0236-C227-83B5-159D-3BB943821D78}"/>
              </a:ext>
            </a:extLst>
          </p:cNvPr>
          <p:cNvCxnSpPr>
            <a:cxnSpLocks/>
          </p:cNvCxnSpPr>
          <p:nvPr/>
        </p:nvCxnSpPr>
        <p:spPr>
          <a:xfrm rot="5400000">
            <a:off x="-1125231" y="3517449"/>
            <a:ext cx="3562031" cy="92367"/>
          </a:xfrm>
          <a:prstGeom prst="bentConnector4">
            <a:avLst>
              <a:gd name="adj1" fmla="val -183"/>
              <a:gd name="adj2" fmla="val 347491"/>
            </a:avLst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FDE7CBAF-373F-173D-041F-B1CAA2D416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921267"/>
            <a:ext cx="5974598" cy="883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109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1675</TotalTime>
  <Words>1262</Words>
  <Application>Microsoft Office PowerPoint</Application>
  <PresentationFormat>와이드스크린</PresentationFormat>
  <Paragraphs>179</Paragraphs>
  <Slides>12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12</vt:i4>
      </vt:variant>
    </vt:vector>
  </HeadingPairs>
  <TitlesOfParts>
    <vt:vector size="21" baseType="lpstr">
      <vt:lpstr>Arial Unicode MS</vt:lpstr>
      <vt:lpstr>빛고을광주_Bold</vt:lpstr>
      <vt:lpstr>Arial</vt:lpstr>
      <vt:lpstr>Wingdings</vt:lpstr>
      <vt:lpstr>맑은 고딕</vt:lpstr>
      <vt:lpstr>에스코어 드림 3 Light</vt:lpstr>
      <vt:lpstr>Office 테마</vt:lpstr>
      <vt:lpstr>3_디자인 사용자 지정</vt:lpstr>
      <vt:lpstr>2_디자인 사용자 지정</vt:lpstr>
      <vt:lpstr> REST API 사용 설명서</vt:lpstr>
      <vt:lpstr>PowerPoint 프레젠테이션</vt:lpstr>
      <vt:lpstr>REST Server 인터페이스 구조</vt:lpstr>
      <vt:lpstr>AAS 태그 리스트 조회</vt:lpstr>
      <vt:lpstr>AAS 태그 리스트 조회 예시</vt:lpstr>
      <vt:lpstr>AAS 태그 데이터 조회</vt:lpstr>
      <vt:lpstr>AAS 태그 데이터 조회 예시</vt:lpstr>
      <vt:lpstr>AAS 태그 데이터 조회 예시</vt:lpstr>
      <vt:lpstr>AAS 단일 태그 데이터 변경</vt:lpstr>
      <vt:lpstr>AAS 태그 데이터 변경 예시</vt:lpstr>
      <vt:lpstr>AAS 블록 태그 데이터 업로드</vt:lpstr>
      <vt:lpstr>AAS 블록 태그 데이터 업로드 예시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송 원석</dc:creator>
  <cp:lastModifiedBy>Hyodong Kim</cp:lastModifiedBy>
  <cp:revision>46</cp:revision>
  <dcterms:created xsi:type="dcterms:W3CDTF">2022-03-10T12:12:01Z</dcterms:created>
  <dcterms:modified xsi:type="dcterms:W3CDTF">2025-11-05T00:57:27Z</dcterms:modified>
</cp:coreProperties>
</file>